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45"/>
  </p:notesMasterIdLst>
  <p:handoutMasterIdLst>
    <p:handoutMasterId r:id="rId46"/>
  </p:handoutMasterIdLst>
  <p:sldIdLst>
    <p:sldId id="256" r:id="rId5"/>
    <p:sldId id="325" r:id="rId6"/>
    <p:sldId id="360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1" r:id="rId21"/>
    <p:sldId id="362" r:id="rId22"/>
    <p:sldId id="363" r:id="rId23"/>
    <p:sldId id="364" r:id="rId24"/>
    <p:sldId id="365" r:id="rId25"/>
    <p:sldId id="366" r:id="rId26"/>
    <p:sldId id="367" r:id="rId27"/>
    <p:sldId id="368" r:id="rId28"/>
    <p:sldId id="369" r:id="rId29"/>
    <p:sldId id="370" r:id="rId30"/>
    <p:sldId id="371" r:id="rId31"/>
    <p:sldId id="373" r:id="rId32"/>
    <p:sldId id="374" r:id="rId33"/>
    <p:sldId id="375" r:id="rId34"/>
    <p:sldId id="376" r:id="rId35"/>
    <p:sldId id="377" r:id="rId36"/>
    <p:sldId id="378" r:id="rId37"/>
    <p:sldId id="379" r:id="rId38"/>
    <p:sldId id="380" r:id="rId39"/>
    <p:sldId id="381" r:id="rId40"/>
    <p:sldId id="382" r:id="rId41"/>
    <p:sldId id="383" r:id="rId42"/>
    <p:sldId id="384" r:id="rId43"/>
    <p:sldId id="385" r:id="rId44"/>
  </p:sldIdLst>
  <p:sldSz cx="18288000" cy="10287000"/>
  <p:notesSz cx="6858000" cy="9144000"/>
  <p:embeddedFontLst>
    <p:embeddedFont>
      <p:font typeface="Poppins" panose="00000500000000000000" pitchFamily="2" charset="0"/>
      <p:regular r:id="rId47"/>
      <p:bold r:id="rId48"/>
      <p:italic r:id="rId49"/>
      <p:boldItalic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CF8"/>
    <a:srgbClr val="FDF7C6"/>
    <a:srgbClr val="D1D1D1"/>
    <a:srgbClr val="4D4D4D"/>
    <a:srgbClr val="33FB63"/>
    <a:srgbClr val="F49210"/>
    <a:srgbClr val="2A2A43"/>
    <a:srgbClr val="F1FEA0"/>
    <a:srgbClr val="FF993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77" autoAdjust="0"/>
    <p:restoredTop sz="87582" autoAdjust="0"/>
  </p:normalViewPr>
  <p:slideViewPr>
    <p:cSldViewPr>
      <p:cViewPr varScale="1">
        <p:scale>
          <a:sx n="46" d="100"/>
          <a:sy n="46" d="100"/>
        </p:scale>
        <p:origin x="8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2.fntdata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E22CC0-1243-338F-5CAD-E7A5B1EE0E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A8E39-795D-D837-9A04-090F9A1419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5907F-8ED1-4449-8AB2-425B109C6DAB}" type="datetimeFigureOut">
              <a:rPr lang="en-PH" smtClean="0"/>
              <a:t>15/09/2026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079AC-EB4A-C6F4-35A4-C5166122BE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FEE0C-CAF7-534F-B1B6-7CB0184B27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C40E73-B33C-482E-B21A-1E3DE061AD4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82812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C21506-B2BE-43BC-8C27-BC2C4DAF9131}" type="datetimeFigureOut">
              <a:rPr lang="en-PH" smtClean="0"/>
              <a:t>15/09/2026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38AF-BC93-4612-8619-54F4BB1E39A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54664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1104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87CDD1A-F4AB-EDD6-A8DC-F353C71F4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398450CE-33EF-802F-EB92-1AA093AF01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F7772F4F-C92E-BC87-8C02-BD9C3E7619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55370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B517519-EDF0-566C-CD96-A290C0AB5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7802817E-AB0A-44E3-B2EF-9350BFDB50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8C1C509-6AC1-FCEB-1FEB-8A779D26D7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66699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BE572943-D099-3A85-C6DB-09BA074C1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E87DC2DC-6A7B-F9D5-6A92-ACBE9D5521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7104D058-BC8C-A28D-A987-D98F0A578F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9369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CEAE322-6272-3B31-B194-A2974CDC7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62F95FE1-473E-9D65-4067-E58CEAA358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C84CDF41-FA4C-A0DB-0B52-3131507D79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31445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F26970EB-FAC3-6982-D1D8-1EE2F62C1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47B0388F-FA93-615A-9064-51E4335F9C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09663BB4-B398-212F-C735-E278602A04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06456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BD8B4C3-F685-3CCA-00DB-1A70C216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61DB5772-3EF9-B9CF-7A42-B1A72F759F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297D0042-E515-1EE9-5022-20DA3B5223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19649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CEED1233-41D7-03B2-C1DF-8A3F6C103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667ADCA9-7D92-D27D-D8A2-B8BBDD7F81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EDA9AFD6-292E-5A67-35A9-F37401FF90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06383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CA137B8F-2C8E-CDE9-7E06-32FF6B3B3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06AA604A-3523-AA0C-775D-82C1F49111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07F1AB0D-F84E-A7DE-E4E6-BA3C73161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60801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A353287-A9A6-E78A-DAAF-66954659E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8C972ACE-4A85-3666-4759-D7C74F2121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2093B61A-D3D8-2B7F-9351-7934690DE0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422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F417123A-92B8-9AC9-452D-E515777F7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1442FC07-BCDC-3220-4C59-6ABB7C40F3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3611B862-6B8A-6B3F-2336-486309AE45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88439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E51FD682-2354-FE91-F848-3E4B08113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6816D4C4-0B81-7E5C-B305-E84F71E6EC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B2CB78BF-1E5C-D085-5A38-4BD4BF5DC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676314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C172BF54-9D49-AEBB-AFCD-17EEF6E26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E1B7C5B5-8BF9-95EA-E69D-D2DD1F804F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B1A9AE33-328A-C019-9234-72A093C9F5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13375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A49EA2C7-D93B-C893-115A-B5504A788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E2C5EDAD-950F-1620-21A3-87BF4F3882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DA20AA39-E501-60CB-F480-23DB4C6566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48375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80E63E83-9665-4F7C-6528-46471EE9E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7223E37D-EAD7-8D17-D9E9-E80B40140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EBC89707-D0D1-A4C9-CE17-47043DFAA0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360355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B201AA17-DF39-1894-E4A7-E1C057762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F02BC4C9-E586-729B-D75B-5AC74A80B8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7B51AE50-7A06-AB18-89F1-CA5B8D0D2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35853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A4DC3D27-E535-416C-F058-A077645C9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BECEF6F0-8952-2CB4-CDD1-F098D5E05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C0BD46B-9C71-EB5A-55A0-791408870F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088134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72F870AE-5D9D-A4B9-F75A-7DE5DDC60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15E8AD52-2DB1-83DB-BA0C-189D46C831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E55B12B-5BCB-E92F-14ED-62BA75E339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207824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AB9619B1-B675-B27F-23CC-37821ED17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70AA1A74-E0CB-237F-DFA5-1D187E4393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AACA0ED-246F-AA6B-F5A7-11A5C217EF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270118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21C118D2-DA0A-E4C2-7331-3A28FF902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45F0152A-FA41-6F16-A158-7944BCC3EB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4B0B7F34-79D6-C0E2-FDEC-8C770179B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830783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B81359C9-AF4D-C6CD-28F8-2FA8BE036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1507DA52-B927-1F5E-20BF-6FD555C253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2EB1AC97-3725-D393-111E-3192F377B4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190677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D9B89D1-60C8-B542-8BFF-BFA3259E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0A20DE3F-6F67-AACD-2D2D-557E911547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7465F74F-DF7F-CC9E-C2BD-BCF7EC5D3E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31210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868E8C46-0B01-7408-67FA-77B19A88E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863152DD-7ACE-4956-717B-B3FBD8DBCC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7FA1429-E087-06E0-80C4-BBA610066B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442995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2DA17A2D-D399-35DF-FD08-AAD49DE61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489429ED-79DE-950A-254A-D3F02D9C1A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2E6FA15D-CD1E-ED89-6E67-F34204F841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841588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0026118-D0D5-33F0-9FF7-17AC650C6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A30A76F1-F8DC-ABF2-0ED0-82A329233C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A755BD27-534E-D3B4-5A53-CFD6AE50BC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06694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169FF139-99C4-3F75-F45A-C683BC666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21713E1A-DA12-D079-517F-6ECEABC8EE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71E81B05-7DCF-751B-A230-AF561190E2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839313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3D73D09A-5885-BEBB-5AB6-D224CD72A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6912CB78-FADC-A321-D6F7-A95C1726D1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0325B441-9514-8FC0-EF96-8B2A0F800A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991995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C4255CFD-8CBE-8CA5-28BF-B84227067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ADB407B8-D489-42B6-A0A8-2466BF478B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4FE9ACE-2FFE-915A-09C9-C8AFC249DC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994952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8718C93C-C213-FE37-E2BC-5B906D0C9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4A43EB45-9214-F017-1DC6-7811287B5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48F50785-C370-764A-E676-83329498BB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043419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3BF55850-185B-4335-6FB4-1B07599C6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4B1588B7-7CD4-F48B-C019-EB0701152B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E5BFC5B4-EA9C-32B6-F515-DC69A9FCE5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18507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420391FA-761C-3854-3FEE-7F4CCC8E0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AE38086C-A1D5-51B4-5F4B-EE76DD6806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EFE26600-4474-9E62-1FA8-127A899D34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362485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31B16A2C-1516-85FD-95F9-45F81F223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A2D116AC-AD02-33D8-B805-8CD8CD7941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CC735B5B-4573-7358-8720-D4B390902A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669496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A43AF004-031C-1BF4-C3FF-955CA4089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7C0BBD2B-7842-C28C-EA31-96A68BEA83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A75205B2-F548-514C-DD39-71CC332D7B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151896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D120164-862E-26D2-3446-FB02AEDD4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F43B6624-D57A-FE35-07C1-4A2DB9BE0B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E65916F7-96AB-8802-1E82-B2834C08EE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113693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BDB9FAF6-E43E-F2C0-F8AF-E6B27B2CB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929B7737-FED7-7CAD-7B66-519F0F0ABE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13BAE0BD-DAB4-D63B-A58E-CAB96F669A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953743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94CB55FA-F27F-E323-3615-771D7059C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3CB301CF-BB35-0487-D986-D1DA14A46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BBC0E3B2-0769-0601-402A-2F3CFFE738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059271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D80D7B04-E50F-952E-E65F-7176BFEF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6E60CD7D-DEF4-C38C-7E61-2B60316FCC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9CE0490-43E3-CAB4-09E5-A1257BFC21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439119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8447EF29-B8C4-FF67-F7A8-0A3151D50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005C39F1-120D-22BC-242A-A4AD8B4862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CE9B3D03-FEA2-75BA-D5F8-B1D79A075D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355982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48BE664-1FFD-8B92-4A37-AC2DB9F64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EE3BEB99-F6DC-C670-39F2-DC51C5119C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A9E584D7-23E7-01F3-B5D9-D5491F9283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79686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52DD619-10C3-181E-10BC-18223423E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3571B4EA-2163-A2ED-7C98-475ABED77B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53CEE6A2-4527-17BF-2481-B7D3FD8C85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82767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2;p15">
            <a:extLst>
              <a:ext uri="{FF2B5EF4-FFF2-40B4-BE49-F238E27FC236}">
                <a16:creationId xmlns:a16="http://schemas.microsoft.com/office/drawing/2014/main" id="{B4FD9F47-32EA-0B40-60C9-C26413111F30}"/>
              </a:ext>
            </a:extLst>
          </p:cNvPr>
          <p:cNvSpPr/>
          <p:nvPr userDrawn="1"/>
        </p:nvSpPr>
        <p:spPr>
          <a:xfrm>
            <a:off x="309562" y="200025"/>
            <a:ext cx="142875" cy="85725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E6610E3-5063-29E1-70B4-1D32CFB5E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D81C3-E2DA-4793-BDA0-1375955C19F0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63800" y="9920219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 dirty="0"/>
              <a:t>Elective 4 (Special Topics on Web and Mobile 2)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13">
            <a:extLst>
              <a:ext uri="{FF2B5EF4-FFF2-40B4-BE49-F238E27FC236}">
                <a16:creationId xmlns:a16="http://schemas.microsoft.com/office/drawing/2014/main" id="{03BEDA6F-F03E-338A-E884-B57BB6E88A2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6324" y="81359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774B46A4-1A07-1B6E-041F-F6905CFA41E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E1DF7690-B553-61D6-9179-CCFD49C98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7D4F7B43-6DF2-1438-AF14-A92B65A0B7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6" name="Google Shape;85;p13">
            <a:extLst>
              <a:ext uri="{FF2B5EF4-FFF2-40B4-BE49-F238E27FC236}">
                <a16:creationId xmlns:a16="http://schemas.microsoft.com/office/drawing/2014/main" id="{76F867A9-D422-C49C-55BB-072203541854}"/>
              </a:ext>
            </a:extLst>
          </p:cNvPr>
          <p:cNvSpPr txBox="1"/>
          <p:nvPr/>
        </p:nvSpPr>
        <p:spPr>
          <a:xfrm>
            <a:off x="5975032" y="3695700"/>
            <a:ext cx="633793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Chapter 3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F3CFCFD9-F42E-F100-6900-CAB83FD2AE37}"/>
              </a:ext>
            </a:extLst>
          </p:cNvPr>
          <p:cNvGrpSpPr/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12" name="Freeform 3">
              <a:extLst>
                <a:ext uri="{FF2B5EF4-FFF2-40B4-BE49-F238E27FC236}">
                  <a16:creationId xmlns:a16="http://schemas.microsoft.com/office/drawing/2014/main" id="{E8336256-6156-C76B-334C-89AF9FC717B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Freeform 4">
              <a:extLst>
                <a:ext uri="{FF2B5EF4-FFF2-40B4-BE49-F238E27FC236}">
                  <a16:creationId xmlns:a16="http://schemas.microsoft.com/office/drawing/2014/main" id="{F56F91F6-E422-C011-9DE1-B40F2AA69D9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DA7A0E2B-DE8F-BA60-AA16-E2384F3A99C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2" name="Google Shape;85;p13">
            <a:extLst>
              <a:ext uri="{FF2B5EF4-FFF2-40B4-BE49-F238E27FC236}">
                <a16:creationId xmlns:a16="http://schemas.microsoft.com/office/drawing/2014/main" id="{A7FA7EC0-0276-D60E-56FC-A2D1B8BF3837}"/>
              </a:ext>
            </a:extLst>
          </p:cNvPr>
          <p:cNvSpPr txBox="1"/>
          <p:nvPr/>
        </p:nvSpPr>
        <p:spPr>
          <a:xfrm>
            <a:off x="1441132" y="5295900"/>
            <a:ext cx="1540573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54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Basic Elements of Python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B173279B-9489-A932-B487-1D049A89E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71426C5E-8C92-78CB-1D46-2AD2E8EFEBE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010DCBA1-8F14-654E-B2CF-5A12D1A7D1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AB01D725-D66D-1A5F-B4CC-07FBCF059B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33C30D04-38D0-D015-1CEC-AAFB4268BD83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2468C3A4-6009-1F77-3F03-3D1E6BC4AA26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Strings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0E34ABAE-48AD-E09A-6907-F6B2E9F49D49}"/>
              </a:ext>
            </a:extLst>
          </p:cNvPr>
          <p:cNvSpPr txBox="1"/>
          <p:nvPr/>
        </p:nvSpPr>
        <p:spPr>
          <a:xfrm>
            <a:off x="304800" y="1257300"/>
            <a:ext cx="17654587" cy="5493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Like many other popular programming languages, strings are arrays of bytes representing Unicode characters. However, it does not have a character data type, a single character is simply a string with a length of 1. Square brackets can be used to access elements of the string.</a:t>
            </a:r>
          </a:p>
          <a:p>
            <a:pPr algn="just">
              <a:lnSpc>
                <a:spcPct val="1500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For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,</a:t>
            </a:r>
          </a:p>
          <a:p>
            <a:pPr algn="just">
              <a:lnSpc>
                <a:spcPct val="1500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E6809A3-0A84-D833-720C-AC5490BBE1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46C852-47A9-092B-B980-7546C4B1F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99" y="6081598"/>
            <a:ext cx="16992601" cy="233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257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5C001F01-8579-53C0-A12E-A0883F5E0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50B6FA5E-1571-E74F-8A77-E48352912E2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7D7A8558-8440-9F82-BC4D-C53AC7E8E4A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B0763087-12E1-32D5-9773-DAAEC46069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B327D95-C4F4-DE8B-5F48-42A8BB3438CD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AD061FB8-0A2B-A933-C1EE-F19806255C84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String Length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F0EF8129-2663-2BCA-5AF9-3AE87D87F6E2}"/>
              </a:ext>
            </a:extLst>
          </p:cNvPr>
          <p:cNvSpPr txBox="1"/>
          <p:nvPr/>
        </p:nvSpPr>
        <p:spPr>
          <a:xfrm>
            <a:off x="304800" y="1257300"/>
            <a:ext cx="17654587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To determine the number of characters in a string, use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len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(). In addition, you can also use this to count the number of items in a list, set, tuple, dictionary, etc.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Syntax: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len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stringVar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password = "password123"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len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(password))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3AD87E6-1DA1-CAA4-5451-A6674C5BD0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3850177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1134BFC9-2595-95BE-C1B4-2796363E4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2F5462AB-8D44-59C6-4843-406FD35D14F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E7E02354-2C66-5F6D-B90F-A8CF0AE5DD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FA34A49F-EDD8-9A48-E441-EC91200E18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C061BAD3-931E-7121-27A9-FD948EAC8A9A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9EF4C631-9AEA-F9EA-2562-B62EDFCA0BF7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Strings: Extraction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9B238D1B-47A1-DE35-7A7A-B56142AEFE3F}"/>
              </a:ext>
            </a:extLst>
          </p:cNvPr>
          <p:cNvSpPr txBox="1"/>
          <p:nvPr/>
        </p:nvSpPr>
        <p:spPr>
          <a:xfrm>
            <a:off x="304800" y="1257300"/>
            <a:ext cx="17654587" cy="8633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You can extract a portion of a string using [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start:end:step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]. Python slices up to but not including the end index.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Where: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start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-&gt; An index to start the extraction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end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-&gt; An index to stop the extraction (value not included in the output)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step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-&gt; An incremental value for the extraction</a:t>
            </a:r>
            <a:endParaRPr lang="en-US" sz="3400" b="1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marL="0" lvl="1"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course = "Programming"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print(course[0:4])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print(course[:6])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print(course[4:])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108236D-C17E-BAF1-E7AC-97B3760DB7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1548169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0C647AB3-EEF2-57FE-C4A0-DD154D28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EF920213-CF2A-0606-2140-5DC80386D9A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0E57717B-432A-D7E4-CBDD-E1F5D301F15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92085A65-B6B5-04AF-EEC7-19476D60A7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DFFFC50F-1209-D917-A8C0-A2D026B3A170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ACC08C35-9E73-1B2E-E23D-B345B0FFA6F0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Strings: Extraction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530825EE-95F6-48AB-A3A6-5FF0766DD48E}"/>
              </a:ext>
            </a:extLst>
          </p:cNvPr>
          <p:cNvSpPr txBox="1"/>
          <p:nvPr/>
        </p:nvSpPr>
        <p:spPr>
          <a:xfrm>
            <a:off x="304800" y="1257300"/>
            <a:ext cx="17654587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When extracting a string, either a positive or a negative index can be used.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For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,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course = "Programming"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print(course[-4:-1])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print(course[:-6])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print(course[-4:])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421148A-63FB-0C3C-1D97-95AFF9F78E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2729339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9D3D24D3-7EA9-5F2E-E5C1-E66B1FB48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1B4F0DB1-7ACB-DEAC-606B-11000038A44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69C38C4E-8D79-8E6A-F388-0EE01314EEE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BD6BEB83-70DE-BE26-264B-F399EC71DB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40560FAB-D820-C2C1-E01D-7D41C4E83415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44E45B14-3A2F-9C09-180C-F4B30D4707F9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String Comparison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6768778C-1B51-997E-0DC4-3AEADCB7C0F4}"/>
              </a:ext>
            </a:extLst>
          </p:cNvPr>
          <p:cNvSpPr txBox="1"/>
          <p:nvPr/>
        </p:nvSpPr>
        <p:spPr>
          <a:xfrm>
            <a:off x="304800" y="1257300"/>
            <a:ext cx="17654587" cy="2354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Strings can be compared alphabetically.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ct val="1500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1B19A9-8773-A727-D412-1D477E7E6B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5FA388-A3B4-5DC5-FB1D-5A6167BC3E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3142"/>
          <a:stretch>
            <a:fillRect/>
          </a:stretch>
        </p:blipFill>
        <p:spPr>
          <a:xfrm>
            <a:off x="304799" y="2916351"/>
            <a:ext cx="12282462" cy="314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341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DC29ECE2-B09A-3E18-8147-CE3B2B2A1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9D212E34-3561-10C1-CFEA-3A88195CBA4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7D9B2D37-FE6B-4AB9-2964-D6C756D42FE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488203EF-7559-C660-9956-8A154055B5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4DC527E0-EBA5-9466-0AC8-4AF08B2729F6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CB1E4DB9-BC9E-7AC2-99D3-FCD03AAE80DE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String Casing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66D48E85-DEE3-EE69-3B18-C1FC2561C4FB}"/>
              </a:ext>
            </a:extLst>
          </p:cNvPr>
          <p:cNvSpPr txBox="1"/>
          <p:nvPr/>
        </p:nvSpPr>
        <p:spPr>
          <a:xfrm>
            <a:off x="304800" y="1257300"/>
            <a:ext cx="17654587" cy="8633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Python provides methods to change string case.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capitalize()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- Converts the first character to upper case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3400" b="1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casefold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() and lower()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- Converts string into lower case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3400" b="1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swapcase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()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– Swaps cases, lower case becomes upper case and vice versa.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title()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– Converts the first character of each word to upper case.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upper()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- Converts a string into upper case</a:t>
            </a:r>
          </a:p>
          <a:p>
            <a:pPr algn="just">
              <a:lnSpc>
                <a:spcPct val="150000"/>
              </a:lnSpc>
            </a:pPr>
            <a:endParaRPr lang="en-US" sz="3400" b="1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Syntax: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stringVariable.method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()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 1:									Example 2: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name = "Mark Denver"						print("Mark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Denver".lower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())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name.lower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())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0138C26-CF95-0965-D142-9D96CD84BD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4162355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5BFB6831-754B-A1B3-FFD0-6348E22B5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D9C3BBFC-9260-9FAC-0134-5C5E6469820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2D6F6F08-06F3-D605-18C0-54E87EBBAD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1CC9C088-8954-79AF-AED7-5C85154273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B4B9D4D4-D5B1-8277-4EE7-2368F6A93A4B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53DDAD2F-D642-F38D-0729-F5FF0B338A98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String Casing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6BA906F4-854B-6A25-57C5-78682167C7AE}"/>
              </a:ext>
            </a:extLst>
          </p:cNvPr>
          <p:cNvSpPr txBox="1"/>
          <p:nvPr/>
        </p:nvSpPr>
        <p:spPr>
          <a:xfrm>
            <a:off x="304800" y="1257300"/>
            <a:ext cx="17654587" cy="941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String Casing Methods Application Examples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1. Combined with print()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name = "Mark"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name.title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())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print("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mark“.title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())</a:t>
            </a:r>
          </a:p>
          <a:p>
            <a:pPr algn="just"/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2. Combined with input()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name = input("Enter your name: ").title()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Note: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All the casing methods can be applied for both input and output operations.</a:t>
            </a:r>
            <a:endParaRPr lang="en-US" sz="3400" b="1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D0FEA34-7B5D-663C-AD79-EE589BFC44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91402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0319C7D-30C6-6F3F-7FB7-7070E6F1E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19B26326-37C0-7DF3-DC38-867D8412378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E24FE2C1-C69A-82BD-0484-2A937F939A3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CAE9DC5D-549A-E3B2-7E00-9AC3EE5568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A9C60DF-3812-A2C2-31B5-D242DDCDED39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A38DDD3A-827E-D84C-F37D-4B76EC8ECE71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String Stripping Whitespace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EE0FEA6C-5FC4-A921-10C5-06D47282C55E}"/>
              </a:ext>
            </a:extLst>
          </p:cNvPr>
          <p:cNvSpPr txBox="1"/>
          <p:nvPr/>
        </p:nvSpPr>
        <p:spPr>
          <a:xfrm>
            <a:off x="304800" y="1257300"/>
            <a:ext cx="17654587" cy="7063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Stripping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means removing extra spaces at the beginning or end of a string.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strip()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– It removes whitespaces on both ends.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3400" b="1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lstrip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()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–It removes whitespaces only on the left.</a:t>
            </a:r>
          </a:p>
          <a:p>
            <a:pPr marL="514350" indent="-514350" algn="just">
              <a:lnSpc>
                <a:spcPct val="150000"/>
              </a:lnSpc>
              <a:buFontTx/>
              <a:buAutoNum type="arabicPeriod"/>
            </a:pPr>
            <a:r>
              <a:rPr lang="en-US" sz="3400" b="1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rstrip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()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–It removes whitespaces only on the right.</a:t>
            </a:r>
          </a:p>
          <a:p>
            <a:pPr marL="514350" indent="-514350" algn="just">
              <a:lnSpc>
                <a:spcPct val="150000"/>
              </a:lnSpc>
              <a:buFontTx/>
              <a:buAutoNum type="arabicPeriod"/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Syntax: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stringVariable.method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()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name = "  Mark Denver  "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name.strip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())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1ECC65D-BD45-EA69-3611-E4F582F1D9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3972877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A3D0D2DF-7CD5-1404-A873-7841272E9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1F080E4A-96E2-819D-9E9D-20558E02027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C34B4F3B-8582-30A9-445C-CE3DB3571C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016CC5A6-7496-3E07-A0DE-668E9D24BB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EE312A4-1363-16D7-B350-88BB756BCE12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533D07DB-03EA-1CA1-EA56-CB3967BF6256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Finding String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166439C1-725D-E50D-F077-37BAF3037E1D}"/>
              </a:ext>
            </a:extLst>
          </p:cNvPr>
          <p:cNvSpPr txBox="1"/>
          <p:nvPr/>
        </p:nvSpPr>
        <p:spPr>
          <a:xfrm>
            <a:off x="304800" y="1257300"/>
            <a:ext cx="17654587" cy="78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To get the index of a string, use the following methods: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1. find() or </a:t>
            </a:r>
            <a:r>
              <a:rPr lang="en-US" sz="3400" b="1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rfind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()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– It returns the index of the specified value, and it will return -1 if the value is not present in a string.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Syntax: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stringVar.find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(value) or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stringVar.rfind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(value)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Note: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Using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rfind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() method will return the index of last occurrence of the specified value or basically it starts from the end of the string.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text = "Hello world"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text.find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("l"))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text.rfind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("l"))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5734A2-9210-AE1C-1A06-2728A9D638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1589868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AAE901F7-F61D-5DB1-A294-6615CE8FC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435C7E1C-D728-99E7-AC3B-4C283816AE3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27D276FF-BD39-3272-FB75-C73205CAF2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2FE5999C-78CC-AFF3-5240-FA5A55EC83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3B18BC4-685E-CEA3-1DE8-BD60F4B02EFA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614B6866-9496-8E16-B79C-796C59ABC263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Finding String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3B34A756-552B-8329-6655-215C289188FA}"/>
              </a:ext>
            </a:extLst>
          </p:cNvPr>
          <p:cNvSpPr txBox="1"/>
          <p:nvPr/>
        </p:nvSpPr>
        <p:spPr>
          <a:xfrm>
            <a:off x="304800" y="1257300"/>
            <a:ext cx="17654587" cy="78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To get the index of a string, use the following methods: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2. index() or </a:t>
            </a:r>
            <a:r>
              <a:rPr lang="en-US" sz="3400" b="1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rindex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()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– It returns the index of the specified value, but it will return an Exception Error if the value is not present in a string.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Syntax: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stringVar.index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(value) or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stringVar.rindex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(value)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Note: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Using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rindex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() method will return the index of last occurrence of the specified value or basically it starts from the end of the string.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text = "Hello world"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text.index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("l"))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text.rindex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("l"))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32D795A-52C6-4FC8-66F3-4AF0C1B910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467820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E98EED86-F392-B2CB-0A59-FDEB9AB8E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1BB1662F-1B15-DF2F-B579-7C875DC5F8A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67514255-E9FA-9890-D2A5-E6D75B2B65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4D7BCDF3-DE54-9ECC-0D25-B69A5C5315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986AE36-9BF5-0FA2-53C1-FB4FC4ACCDB9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BB264614-5890-7005-44FC-AB93EDC93C2B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Replacing String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8F0ACDF9-AF13-5AC1-0FE0-F50D7DB92C42}"/>
              </a:ext>
            </a:extLst>
          </p:cNvPr>
          <p:cNvSpPr txBox="1"/>
          <p:nvPr/>
        </p:nvSpPr>
        <p:spPr>
          <a:xfrm>
            <a:off x="304800" y="1257300"/>
            <a:ext cx="17654587" cy="78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To change a word from a given string, use replace() to return a new string changing the specified value with a new value.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Syntax: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stringVar.replace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oldvalue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,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newvalue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, count)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Where: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count is an int parameter and is optional. It specifies how many times does the old value will be replaced with a new value.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numbers = "1223334444555"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newNumbers1 =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numbers.replace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("5", "3")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newNumbers2 =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numbers.replace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("5", "3", 1)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E453202-6A04-8F3C-F752-5FB89102BE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3178348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A01C6B82-9843-60AF-EE25-350D5640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CD8EE9D7-3DA7-D4EB-B352-3EEF862F0A4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E02ECE85-21A9-1385-7FBB-6FF7700F08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CFFBD395-B596-5EEB-A253-10D6ECAD2D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D37D23AC-7A00-6FCD-BB1F-45B37D2BA8F6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B94D32FB-6E0F-4C20-52AC-01718AD5D4C1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Counting String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F201A2E9-8376-0DB5-5A15-F24333B96F89}"/>
              </a:ext>
            </a:extLst>
          </p:cNvPr>
          <p:cNvSpPr txBox="1"/>
          <p:nvPr/>
        </p:nvSpPr>
        <p:spPr>
          <a:xfrm>
            <a:off x="304800" y="1257300"/>
            <a:ext cx="17654587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To determine how many times a specified value occurs in the given string, use count().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Syntax: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stringVar.count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("value")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numbers = "1223334444555"</a:t>
            </a:r>
          </a:p>
          <a:p>
            <a:pPr algn="just">
              <a:lnSpc>
                <a:spcPct val="150000"/>
              </a:lnSpc>
            </a:pP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occurence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=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numbers.count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("5")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8387FAB-3DFE-7643-6B82-117B2A3AAA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1227832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2DB09CF9-4810-E840-3211-81F2B997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F681157B-F70B-3788-D68F-524835A787E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BD123A03-881A-5D58-1EBE-246EF8448D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AFF4F366-B393-CEA5-3586-04C5F088D5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8C584E8-816C-B8FC-0C46-BFF1A9C56AF5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BE680264-75A3-8EAC-A896-CD71E10927E8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Splitting String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43AE8AB0-AA05-45EA-0874-5E6EE379CF07}"/>
              </a:ext>
            </a:extLst>
          </p:cNvPr>
          <p:cNvSpPr txBox="1"/>
          <p:nvPr/>
        </p:nvSpPr>
        <p:spPr>
          <a:xfrm>
            <a:off x="304800" y="1257300"/>
            <a:ext cx="17654587" cy="8633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To break down a string into a list, use split().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Syntax: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stringVar.split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(separator,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maxsplit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Where: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 separator is empty, the default value is any whitespace.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The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maxsplit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specifies how many times the splitting happens plus one. In short, it specifies the number of items the list will have plus one.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numbers = "1,2,2,3,4,5,5,5"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newNumbers1 =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numbers.split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(",")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newNumbers2 =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numbers.split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(",", 3)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Note: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The values of the list after splitting is enclosed with a single quotation mark.</a:t>
            </a:r>
            <a:endParaRPr lang="en-US" sz="3400" b="1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E7430CE-4D50-DAFF-8D30-BE447A980C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3210689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FE73F513-1356-4C2D-AB69-DBF9F2BC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073039A5-D40C-050C-642A-5087A0A2365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D8E5259C-852F-FE9F-8D43-FA4577E3F5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BB47CBE9-E51C-306B-C521-F4DB9EFDF8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47A40FF-CCAF-A76E-C516-F4A957DABF7D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C37FE069-CC7E-8687-C1F0-DEE2748F80B6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Checking String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0421413B-8999-A7F8-F0FF-E3B16EBBA08C}"/>
              </a:ext>
            </a:extLst>
          </p:cNvPr>
          <p:cNvSpPr txBox="1"/>
          <p:nvPr/>
        </p:nvSpPr>
        <p:spPr>
          <a:xfrm>
            <a:off x="304800" y="1257300"/>
            <a:ext cx="17654587" cy="7063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isalnum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()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Returns True if all characters in the string are alphanumeric.</a:t>
            </a:r>
            <a:endParaRPr lang="en-PH" sz="34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isalpha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()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Returns True if all characters in the string are in the alphabet.</a:t>
            </a:r>
            <a:endParaRPr lang="en-PH" sz="34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isnumeric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()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Returns True if all characters in the string are numeric.</a:t>
            </a:r>
            <a:endParaRPr lang="en-PH" sz="34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isspace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()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Returns True if all characters in the string are whitespaces.</a:t>
            </a:r>
          </a:p>
          <a:p>
            <a:pPr fontAlgn="t">
              <a:lnSpc>
                <a:spcPct val="150000"/>
              </a:lnSpc>
            </a:pPr>
            <a:r>
              <a:rPr lang="en-PH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Syntax: </a:t>
            </a:r>
            <a:r>
              <a:rPr lang="en-PH" sz="3400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stringVar.isalnum</a:t>
            </a:r>
            <a:r>
              <a:rPr lang="en-PH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()</a:t>
            </a:r>
          </a:p>
          <a:p>
            <a:pPr fontAlgn="t">
              <a:lnSpc>
                <a:spcPct val="150000"/>
              </a:lnSpc>
            </a:pPr>
            <a:r>
              <a:rPr lang="en-PH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Output: True/False</a:t>
            </a:r>
          </a:p>
          <a:p>
            <a:pPr fontAlgn="t">
              <a:lnSpc>
                <a:spcPct val="150000"/>
              </a:lnSpc>
            </a:pPr>
            <a:r>
              <a:rPr lang="en-PH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</a:p>
          <a:p>
            <a:pPr fontAlgn="t">
              <a:lnSpc>
                <a:spcPct val="150000"/>
              </a:lnSpc>
            </a:pPr>
            <a:r>
              <a:rPr lang="en-PH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password = "@text123"</a:t>
            </a:r>
          </a:p>
          <a:p>
            <a:pPr fontAlgn="t">
              <a:lnSpc>
                <a:spcPct val="150000"/>
              </a:lnSpc>
            </a:pPr>
            <a:r>
              <a:rPr lang="en-PH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</a:t>
            </a:r>
            <a:r>
              <a:rPr lang="en-PH" sz="3400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password.isalnum</a:t>
            </a:r>
            <a:r>
              <a:rPr lang="en-PH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())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14FEC86-EAB1-C2CC-CA69-18E6C3818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3701000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BD1233CC-FE5D-E92F-05EB-31A5037BA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399B8F8A-A2B7-1F19-E648-9024CDF7B37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23043380-BD79-76E0-70FE-2056DF5D04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4A070D41-41D0-EDA1-84B1-A97E5339B7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B5850A04-B280-7C48-4118-C133C418E0B0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978016FA-DE5E-6024-C0DA-741933E0D0F9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Checking String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36FD60EA-B29E-A74A-9C69-B7004E2CA732}"/>
              </a:ext>
            </a:extLst>
          </p:cNvPr>
          <p:cNvSpPr txBox="1"/>
          <p:nvPr/>
        </p:nvSpPr>
        <p:spPr>
          <a:xfrm>
            <a:off x="304800" y="1257300"/>
            <a:ext cx="17654587" cy="3924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t">
              <a:lnSpc>
                <a:spcPct val="150000"/>
              </a:lnSpc>
            </a:pPr>
            <a:r>
              <a:rPr lang="en-PH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 check also if a value exists in a string, you can use the </a:t>
            </a:r>
            <a:r>
              <a:rPr lang="en-PH" sz="3400" b="1" i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 </a:t>
            </a:r>
            <a:r>
              <a:rPr lang="en-PH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</a:t>
            </a:r>
            <a:r>
              <a:rPr lang="en-PH" sz="3400" i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PH" sz="3400" b="1" i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not in </a:t>
            </a:r>
            <a:r>
              <a:rPr lang="en-PH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operators.</a:t>
            </a:r>
          </a:p>
          <a:p>
            <a:pPr fontAlgn="t">
              <a:lnSpc>
                <a:spcPct val="150000"/>
              </a:lnSpc>
            </a:pPr>
            <a:r>
              <a:rPr lang="en-PH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</a:p>
          <a:p>
            <a:pPr fontAlgn="t">
              <a:lnSpc>
                <a:spcPct val="150000"/>
              </a:lnSpc>
            </a:pPr>
            <a:r>
              <a:rPr lang="en-PH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email = "sample@gmail.com"</a:t>
            </a:r>
          </a:p>
          <a:p>
            <a:pPr fontAlgn="t">
              <a:lnSpc>
                <a:spcPct val="150000"/>
              </a:lnSpc>
            </a:pPr>
            <a:r>
              <a:rPr lang="en-PH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print("@" in email)</a:t>
            </a:r>
          </a:p>
          <a:p>
            <a:pPr fontAlgn="t">
              <a:lnSpc>
                <a:spcPct val="150000"/>
              </a:lnSpc>
            </a:pPr>
            <a:endParaRPr lang="en-PH" sz="34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EEED9F-188E-E76E-27B5-89AEF4AC6D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2142686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45056336-B050-EE7E-A922-B3A1F803B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9291B535-10C6-C591-A2C9-7EE665D4C71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DFF6D3EB-B956-A2B7-838F-6572B91CDE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AE1E1E51-44C8-13B8-995D-2AB7E2ADEA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9286382-2061-9149-A583-E0F2689634B1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DA15B034-49C8-D028-1F39-25BDA56EACD3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Escape Character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9CDB55F1-B76D-DFAF-DF98-FE2FD203C487}"/>
              </a:ext>
            </a:extLst>
          </p:cNvPr>
          <p:cNvSpPr txBox="1"/>
          <p:nvPr/>
        </p:nvSpPr>
        <p:spPr>
          <a:xfrm>
            <a:off x="304800" y="1257300"/>
            <a:ext cx="17654587" cy="627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 insert characters that are illegal in a string, use an escape character.</a:t>
            </a:r>
          </a:p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 escape character is a backslash \ followed by the character you want to insert.</a:t>
            </a:r>
          </a:p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 example of an illegal character is a double quote inside a string that is surrounded by double quotes:</a:t>
            </a:r>
          </a:p>
          <a:p>
            <a:pPr algn="just" fontAlgn="t">
              <a:lnSpc>
                <a:spcPct val="1500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</a:p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txt = "We are the so-called "Vikings" from the north."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083EC87-3384-6901-62D5-20ECBB77B9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1776760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ED51BF5C-0E37-4C31-8007-7F271821B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D8886EC7-5EA1-EA2E-34A1-801806B8ED7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ED66F4B7-0366-5FD3-457B-AE26C8AF68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AB7334A0-6DF1-F481-8C99-74B4109F99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F2166A13-D59E-66DF-8811-2F20E92E2666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D91B0F69-C18C-AAEE-1277-D1CC604BDF21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Learning Activity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B501E847-DC0C-5EF5-42E1-34FCCA39CFDD}"/>
              </a:ext>
            </a:extLst>
          </p:cNvPr>
          <p:cNvSpPr txBox="1"/>
          <p:nvPr/>
        </p:nvSpPr>
        <p:spPr>
          <a:xfrm>
            <a:off x="304800" y="1257300"/>
            <a:ext cx="17654587" cy="897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 algn="just" fontAlgn="t">
              <a:lnSpc>
                <a:spcPts val="5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Ask the user to enter their first name and last name. </a:t>
            </a:r>
          </a:p>
          <a:p>
            <a:pPr marL="457200" indent="-457200" algn="just" fontAlgn="t">
              <a:lnSpc>
                <a:spcPts val="5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Concatenate them into a single string and print: </a:t>
            </a:r>
          </a:p>
          <a:p>
            <a:pPr marL="457200" indent="-457200" algn="just" fontAlgn="t">
              <a:lnSpc>
                <a:spcPts val="5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	Hello, &lt;FirstName LastName&gt;!</a:t>
            </a:r>
          </a:p>
          <a:p>
            <a:pPr marL="457200" indent="-457200" algn="just" fontAlgn="t">
              <a:lnSpc>
                <a:spcPts val="5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Display the first and last character of the name</a:t>
            </a:r>
          </a:p>
          <a:p>
            <a:pPr marL="457200" indent="-457200" algn="just" fontAlgn="t">
              <a:lnSpc>
                <a:spcPts val="5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Display the first three letters of the first name as nickname</a:t>
            </a:r>
          </a:p>
          <a:p>
            <a:pPr marL="457200" indent="-457200" algn="just" fontAlgn="t">
              <a:lnSpc>
                <a:spcPts val="5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Count how many times the letter "a" (case insensitive) appears in the full name.</a:t>
            </a:r>
          </a:p>
          <a:p>
            <a:pPr algn="just" fontAlgn="t">
              <a:lnSpc>
                <a:spcPts val="5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Sample Output:</a:t>
            </a:r>
          </a:p>
          <a:p>
            <a:pPr algn="just" fontAlgn="t">
              <a:lnSpc>
                <a:spcPts val="5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Enter your first name: Maria</a:t>
            </a:r>
          </a:p>
          <a:p>
            <a:pPr algn="just" fontAlgn="t">
              <a:lnSpc>
                <a:spcPts val="5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Enter your last name: Santos</a:t>
            </a:r>
          </a:p>
          <a:p>
            <a:pPr algn="just" fontAlgn="t">
              <a:lnSpc>
                <a:spcPts val="5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Hello, Maria Santos!</a:t>
            </a:r>
          </a:p>
          <a:p>
            <a:pPr algn="just" fontAlgn="t">
              <a:lnSpc>
                <a:spcPts val="5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First character: M</a:t>
            </a:r>
          </a:p>
          <a:p>
            <a:pPr algn="just" fontAlgn="t">
              <a:lnSpc>
                <a:spcPts val="5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Last character: s</a:t>
            </a:r>
          </a:p>
          <a:p>
            <a:pPr algn="just" fontAlgn="t">
              <a:lnSpc>
                <a:spcPts val="5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Your nickname: Mar</a:t>
            </a:r>
          </a:p>
          <a:p>
            <a:pPr algn="just" fontAlgn="t">
              <a:lnSpc>
                <a:spcPts val="5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Number of times 'a' appears in your full name: 3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A8ADCFC-FBCE-9BFA-1286-11616B1C0E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1202697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5714B5C9-C69F-9D9E-9695-305AE175E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38219240-D225-DBF5-FA55-7B4CDEA818B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F017C4CE-211F-4074-C00D-E78F51E377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A597A2CA-6346-DF82-89D5-7C86D5BC080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3FD9FF5-282F-5FF9-3DBA-C4E3441C3A89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1874A5F2-0194-640D-445F-44D085504872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Numbers Formatting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2EE5C2AB-26D9-4A42-1911-0FC3D80A8B79}"/>
              </a:ext>
            </a:extLst>
          </p:cNvPr>
          <p:cNvSpPr txBox="1"/>
          <p:nvPr/>
        </p:nvSpPr>
        <p:spPr>
          <a:xfrm>
            <a:off x="304800" y="1257300"/>
            <a:ext cx="17654587" cy="7063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Different formatting types can control how a number should be displayed. There are two ways to format numbers, but using the f-string method is recommended.</a:t>
            </a:r>
          </a:p>
          <a:p>
            <a:pPr algn="just"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 Formatting Decimal Places</a:t>
            </a:r>
          </a:p>
          <a:p>
            <a:pPr algn="just"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Specifier: .2f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 Add two decimal places. You can change the integer value as needed.</a:t>
            </a:r>
          </a:p>
          <a:p>
            <a:pPr algn="just"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</a:p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num = 7.12987</a:t>
            </a:r>
          </a:p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print(f"{num:.2f}")</a:t>
            </a:r>
          </a:p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print("{:.2f}".format(num))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7322F04-A4E4-CB2C-3119-3DAEE01E0D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902402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9BC7C66C-FA17-D9DE-0D7F-29CE121E1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7246BB6E-261D-6C08-ABA0-9E02D8E996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08A0C154-406C-610D-5FED-842FA9C698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3C467959-683E-280E-C602-49E6E91A70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E82D79E-433D-C11A-E783-CE2049A8000C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7871F43B-5D1B-D1DF-88F6-E637798AB865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Numbers Formatting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1187CF8C-215A-6516-4010-4A56B3DAD011}"/>
              </a:ext>
            </a:extLst>
          </p:cNvPr>
          <p:cNvSpPr txBox="1"/>
          <p:nvPr/>
        </p:nvSpPr>
        <p:spPr>
          <a:xfrm>
            <a:off x="304800" y="1257300"/>
            <a:ext cx="17654587" cy="5493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2. Adding commas</a:t>
            </a:r>
          </a:p>
          <a:p>
            <a:pPr algn="just"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Specifier: ,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Add commas to the given number.</a:t>
            </a:r>
          </a:p>
          <a:p>
            <a:pPr algn="just"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</a:p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amount = 7500 </a:t>
            </a:r>
          </a:p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print(f"{amount:,}")</a:t>
            </a:r>
          </a:p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print("{:,}".format(amount))</a:t>
            </a:r>
          </a:p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066F88C-3725-17F4-8AB0-25E732F263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639075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089B520F-98EC-84C4-2472-1AA9C9AFF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16CBFADA-22F8-2271-B2E6-A85612098C2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BFC4F80F-80DB-B6A7-3D0D-B15352178E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8FD161C6-9223-385F-08CA-BC6B9D52DD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222F92C-E568-115F-2148-9ED4560B856A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BA34778D-54E5-536E-104E-0FB7D03AFF1E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Numbers Formatting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C2386BD9-90DD-D7CC-4C4B-BB204467A2F7}"/>
              </a:ext>
            </a:extLst>
          </p:cNvPr>
          <p:cNvSpPr txBox="1"/>
          <p:nvPr/>
        </p:nvSpPr>
        <p:spPr>
          <a:xfrm>
            <a:off x="304800" y="1257300"/>
            <a:ext cx="17654587" cy="5493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3. Percentage Formatting</a:t>
            </a:r>
          </a:p>
          <a:p>
            <a:pPr algn="just"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Specifier: .0%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It converts the number to a percentage. You can change the integer value as needed.</a:t>
            </a:r>
          </a:p>
          <a:p>
            <a:pPr algn="just"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</a:p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rate = 7500</a:t>
            </a:r>
          </a:p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print(f"{rate:.0%}")</a:t>
            </a:r>
          </a:p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print("{:.0%}".format(rate))</a:t>
            </a:r>
            <a:endParaRPr lang="en-US" sz="3400" b="1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15FEB2D-D3E9-8AD6-9D43-F934E8FC1F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1174685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E283D0F8-FBC3-721E-1A17-B459FCA5E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AD7FE54E-8CB8-E3E3-97B9-226268B6495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E6494497-ADCB-4A3B-854A-C07FCA82D3F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15B2EC70-5CA8-250F-FB63-832ADAE523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8B32BA1-87C1-9EFC-5D0E-2374B63D07C0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0EA58106-9CEB-3C09-B639-9C73918112C5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Numbers Formatting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ACDE488E-F618-6708-B18D-B4D1E990DCDC}"/>
              </a:ext>
            </a:extLst>
          </p:cNvPr>
          <p:cNvSpPr txBox="1"/>
          <p:nvPr/>
        </p:nvSpPr>
        <p:spPr>
          <a:xfrm>
            <a:off x="304800" y="1257300"/>
            <a:ext cx="17654587" cy="78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4. Binary, Octal, Hex</a:t>
            </a:r>
          </a:p>
          <a:p>
            <a:pPr algn="just"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a. Binary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To convert a number to binary, use the "b" prefix.</a:t>
            </a:r>
          </a:p>
          <a:p>
            <a:pPr algn="just"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</a:p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print(f"{10:b}")</a:t>
            </a:r>
          </a:p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print(format(10, "b"))</a:t>
            </a:r>
          </a:p>
          <a:p>
            <a:pPr algn="just" fontAlgn="t">
              <a:lnSpc>
                <a:spcPct val="1500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b. Octal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To convert a number to octal, use the "o" prefix.</a:t>
            </a:r>
          </a:p>
          <a:p>
            <a:pPr algn="just"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</a:p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print(f"{10:o}")</a:t>
            </a:r>
          </a:p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print(format(10, "o"))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753F91C-EEBB-349E-4E19-0E88701F94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432320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EB56BB00-A7CE-755C-6B5E-49579D876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F3D585C9-6261-6A05-D70F-BCBA09B6AC8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16D8D86E-798F-648A-BF07-C809D441F8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B35322A9-9F9D-7EAD-0E05-510B703FFA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F346B82F-43D8-93A6-0A11-F62998BF1CA6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142C160A-7A47-0210-03AB-E099B21B22C8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Numbers Formatting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08C67AA1-7A1A-E3E7-49C6-47959036E605}"/>
              </a:ext>
            </a:extLst>
          </p:cNvPr>
          <p:cNvSpPr txBox="1"/>
          <p:nvPr/>
        </p:nvSpPr>
        <p:spPr>
          <a:xfrm>
            <a:off x="304800" y="1257300"/>
            <a:ext cx="17654587" cy="8802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4. Binary, Octal, Hex</a:t>
            </a:r>
          </a:p>
          <a:p>
            <a:pPr algn="just"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c. Hex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To convert a number to hex, use the "x" prefix.</a:t>
            </a:r>
          </a:p>
          <a:p>
            <a:pPr algn="just"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</a:p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print(f"{10:x}")</a:t>
            </a:r>
          </a:p>
          <a:p>
            <a:pPr algn="just" fontAlgn="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print(format(10, "x")) </a:t>
            </a:r>
          </a:p>
          <a:p>
            <a:pPr algn="just" fontAlgn="t"/>
            <a:endParaRPr lang="en-US" sz="11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5.1. Aligning number to the left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To align numbers to the left, use &gt; followed by an integer specifying the width.</a:t>
            </a:r>
          </a:p>
          <a:p>
            <a:pPr algn="just" fontAlgn="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Syntax: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{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intVal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:&gt;width}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format(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intVal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"&gt;value")</a:t>
            </a:r>
          </a:p>
          <a:p>
            <a:pPr algn="just" fontAlgn="t">
              <a:lnSpc>
                <a:spcPct val="150000"/>
              </a:lnSpc>
            </a:pPr>
            <a:r>
              <a:rPr lang="fr-FR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</a:p>
          <a:p>
            <a:pPr algn="just" fontAlgn="t">
              <a:lnSpc>
                <a:spcPct val="150000"/>
              </a:lnSpc>
            </a:pPr>
            <a:r>
              <a:rPr lang="fr-FR" sz="3400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</a:t>
            </a:r>
            <a:r>
              <a:rPr lang="fr-FR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(f"{10: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&gt;</a:t>
            </a:r>
            <a:r>
              <a:rPr lang="fr-FR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5}")</a:t>
            </a:r>
          </a:p>
          <a:p>
            <a:pPr algn="just" fontAlgn="t">
              <a:lnSpc>
                <a:spcPct val="150000"/>
              </a:lnSpc>
            </a:pPr>
            <a:r>
              <a:rPr lang="fr-FR" sz="3400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</a:t>
            </a:r>
            <a:r>
              <a:rPr lang="fr-FR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(format(10, "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&gt;</a:t>
            </a:r>
            <a:r>
              <a:rPr lang="fr-FR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5"))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D618372-DDC3-D115-28F2-7788E5C120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1191290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33A918A1-A76E-9778-8A51-AE635B2F3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D6482C5A-1610-8926-B7CA-676E660F69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594D661C-826C-CC25-6789-16B6AC742D4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EEEBB1BC-2CF6-034A-0B9E-88C55319E4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95D10BB-5C19-0BE5-A060-454A753F8F7D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88FC5471-EFCA-F28B-EFB4-4AA96AC77B13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Numbers Formatting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9F705D57-5DD4-E151-11A1-18EA05729AAF}"/>
              </a:ext>
            </a:extLst>
          </p:cNvPr>
          <p:cNvSpPr txBox="1"/>
          <p:nvPr/>
        </p:nvSpPr>
        <p:spPr>
          <a:xfrm>
            <a:off x="304800" y="1257300"/>
            <a:ext cx="17654587" cy="877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5.2. Aligning number to the right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To align numbers to the right, use &lt; followed by an integer specifying the width.</a:t>
            </a: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Syntax: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{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intVal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:&lt;width}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format(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intVal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"&lt;value")</a:t>
            </a: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</a:p>
          <a:p>
            <a:pPr algn="just" fontAlgn="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print(f"{10:&lt;5}")</a:t>
            </a:r>
          </a:p>
          <a:p>
            <a:pPr algn="just" fontAlgn="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print(format(10, "&lt;5"))</a:t>
            </a: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5.3. Aligning number to the center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To align numbers to the center, use ^ followed by an integer specifying the width.</a:t>
            </a: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Syntax: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{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intVal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:^width}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format(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intVal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"^value")</a:t>
            </a: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</a:p>
          <a:p>
            <a:pPr algn="just" fontAlgn="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print(f"{10:^5}")</a:t>
            </a:r>
          </a:p>
          <a:p>
            <a:pPr algn="just" fontAlgn="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print(format(10, "^5"))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8401C55-DCB8-8322-06A6-6D28EFFA3E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3126594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EE84693B-B86F-6408-E8F3-82E84AE24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8B693E83-2EDD-91B4-8D5D-4169D142D6D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60E3FFDD-792F-95D5-228C-E5001D05D0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B0906EED-9072-B241-EAEA-BC9943989D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C972A917-98D6-BD18-CE4F-50C012DD717F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D1D786BD-F8F1-37E1-4AF7-47E81F0A7D8E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Numbers Functions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D3BE1EC5-47A8-E506-FAB4-34E32E3A53F9}"/>
              </a:ext>
            </a:extLst>
          </p:cNvPr>
          <p:cNvSpPr txBox="1"/>
          <p:nvPr/>
        </p:nvSpPr>
        <p:spPr>
          <a:xfrm>
            <a:off x="304800" y="1257300"/>
            <a:ext cx="17654587" cy="877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 abs()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It returns the absolute value of the specified number.</a:t>
            </a: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Syntax: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abs(value)</a:t>
            </a: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</a:p>
          <a:p>
            <a:pPr algn="just" fontAlgn="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num = -20</a:t>
            </a:r>
          </a:p>
          <a:p>
            <a:pPr algn="just" fontAlgn="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print(abs(num))</a:t>
            </a: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Output: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</a:t>
            </a:r>
          </a:p>
          <a:p>
            <a:pPr algn="just" fontAlgn="t">
              <a:lnSpc>
                <a:spcPts val="57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2. pow()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It returns a raise to the power of b.</a:t>
            </a: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Syntax: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pow(base, exponent)</a:t>
            </a: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</a:p>
          <a:p>
            <a:pPr algn="just" fontAlgn="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print(pow(2, 3))</a:t>
            </a: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Output: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</a:t>
            </a:r>
            <a:endParaRPr lang="en-US" sz="3400" b="1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FCB0B1C-0A2A-A730-740B-749882958B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951147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49C1FC6F-5C79-1334-8DDB-B3184737B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C1576AFB-2FE1-AC63-36EF-EEE56D474B8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E8D9563B-45D8-599B-69F5-8BF4861A76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F5BBFF2C-C8E5-2384-94C4-5CB8050D00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36577380-C138-71CE-2CB3-186D33C19131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BE4B0E55-3BB1-2B74-511B-E743D7C41A0D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Numbers Functions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4BFA1888-3F33-5AD9-8918-9F6634E2C996}"/>
              </a:ext>
            </a:extLst>
          </p:cNvPr>
          <p:cNvSpPr txBox="1"/>
          <p:nvPr/>
        </p:nvSpPr>
        <p:spPr>
          <a:xfrm>
            <a:off x="304800" y="1257300"/>
            <a:ext cx="17654587" cy="877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3. round()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It rounds a number with a specified number of decimal places.</a:t>
            </a: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Syntax: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round(value, decimal)</a:t>
            </a: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Where:</a:t>
            </a:r>
          </a:p>
          <a:p>
            <a:pPr marL="914400" lvl="1" indent="-457200" algn="just" fontAlgn="t">
              <a:lnSpc>
                <a:spcPts val="5700"/>
              </a:lnSpc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decimal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integer - specifies the place where rounding takes place.</a:t>
            </a: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</a:p>
          <a:p>
            <a:pPr algn="just" fontAlgn="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print(round(3.1456, 2))</a:t>
            </a: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Output: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3.15</a:t>
            </a:r>
          </a:p>
          <a:p>
            <a:pPr algn="just" fontAlgn="t">
              <a:lnSpc>
                <a:spcPts val="57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4. max()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– Returns the largest value from the provided values.</a:t>
            </a: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</a:p>
          <a:p>
            <a:pPr algn="just" fontAlgn="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print(max(25, 20, 30))</a:t>
            </a: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Output: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B41B2F0-CA8D-B16C-150C-B5C729C677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3211410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1C92E1F9-7BF6-95C3-35EA-FC3C7F629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B9D4C0DB-1754-B51E-5730-564F9992428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356BB13E-02F3-EBAC-1BC9-1347528F81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234F0B6B-33AF-04A8-362F-5A61887BDF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0F4466EF-DEC9-DBAC-B8AB-5B4306ACF45A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F33140C9-150A-673B-9677-654FD516B24B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Python Numbers Functions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80361918-B482-5730-ED34-8866F22163F8}"/>
              </a:ext>
            </a:extLst>
          </p:cNvPr>
          <p:cNvSpPr txBox="1"/>
          <p:nvPr/>
        </p:nvSpPr>
        <p:spPr>
          <a:xfrm>
            <a:off x="304800" y="1257300"/>
            <a:ext cx="17654587" cy="2923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5. min()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– It returns the smallest number in the provided values.</a:t>
            </a: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</a:p>
          <a:p>
            <a:pPr algn="just" fontAlgn="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print(min(25, 20, 30))</a:t>
            </a:r>
          </a:p>
          <a:p>
            <a:pPr algn="just" fontAlgn="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Output: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25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F054A64-AC49-8148-2A53-20D37F4326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12133236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DD15C1BB-59AD-D1E4-5393-07E9FCFB4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910D90F0-01EE-9416-B7DA-CCCFB9E31FD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7B863744-BA42-C94F-6241-55D8708386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472195A8-6958-1585-812D-3B30D53CA5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1A37B5A-7794-6712-7553-F4935463A13B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B3F0C761-58D6-3BCF-0F30-5AA84FCA3D54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Decision Making / Selection Statement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4FF2AB44-4D0A-95A3-2382-1F54C0E02E7D}"/>
              </a:ext>
            </a:extLst>
          </p:cNvPr>
          <p:cNvSpPr txBox="1"/>
          <p:nvPr/>
        </p:nvSpPr>
        <p:spPr>
          <a:xfrm>
            <a:off x="304800" y="1257300"/>
            <a:ext cx="17654587" cy="8633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Scope of a Statement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To define the scope of a statement, use an indentation. Python does not use curly braces for statement scope. Whenever writing a statement, make sure that it has at least 1 line of code; otherwise, an error occurs. Use a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pass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statement to prevent it.</a:t>
            </a:r>
          </a:p>
          <a:p>
            <a:pPr algn="just">
              <a:lnSpc>
                <a:spcPct val="1500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Basic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statement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An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statement used the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keyword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just like in other programming languages.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Syntax:</a:t>
            </a:r>
          </a:p>
          <a:p>
            <a:pPr algn="just">
              <a:lnSpc>
                <a:spcPct val="1500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condition:</a:t>
            </a:r>
          </a:p>
          <a:p>
            <a:pPr algn="just">
              <a:lnSpc>
                <a:spcPct val="1500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pass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D4CE0EA-5218-EADB-00D4-D0F7551294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4659831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B3372AC7-9017-0D18-BA2B-D08DDB894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60304AE1-DC59-FD4F-A945-699531515ED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9859EA33-0B56-5EF0-3708-749883D0D0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4F8B31AF-9F65-CC69-0FF2-8135CE94982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B22BFCF1-6CBD-FC02-3000-FB2E75D5DD8E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31B0E326-133D-1A89-F28C-F05BF4479FD6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Decision Making / Selection Statement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F39F6D08-A0C9-548E-CDE6-99086623BE9B}"/>
              </a:ext>
            </a:extLst>
          </p:cNvPr>
          <p:cNvSpPr txBox="1"/>
          <p:nvPr/>
        </p:nvSpPr>
        <p:spPr>
          <a:xfrm>
            <a:off x="304800" y="1257300"/>
            <a:ext cx="17654587" cy="5493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num1 = 10</a:t>
            </a:r>
          </a:p>
          <a:p>
            <a:pPr algn="just">
              <a:lnSpc>
                <a:spcPct val="1500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num1 &gt; 0: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print("num1 is greater than 0")</a:t>
            </a:r>
          </a:p>
          <a:p>
            <a:pPr algn="just">
              <a:lnSpc>
                <a:spcPct val="1500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As seen in the example, there are no parentheses used but you can still use it for multiple conditions.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41585AE-D14F-029C-E8B0-34506CE4C7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21166170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2EC45E6E-F657-8DEF-C740-0ADD7BB12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01CF62CD-1B1A-86A5-1E0F-136AF87A863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D08A39BC-312C-FC76-B09B-685BC9B214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B62CA2AA-3E73-7554-5EA6-644EF927C0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B21647B-CDE6-2CCA-A95A-325ACF55AC38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9DF49170-9E80-A9F4-F65B-F8F055333A36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Decision Making / Selection Statement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94C032BF-6431-BD77-2167-EFE309A011DA}"/>
              </a:ext>
            </a:extLst>
          </p:cNvPr>
          <p:cNvSpPr txBox="1"/>
          <p:nvPr/>
        </p:nvSpPr>
        <p:spPr>
          <a:xfrm>
            <a:off x="304800" y="1257300"/>
            <a:ext cx="17654587" cy="5493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The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if-else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statement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- The else statement is used to execute a different output when the condition returns false in the if statement.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Syntax:</a:t>
            </a:r>
          </a:p>
          <a:p>
            <a:pPr algn="just">
              <a:lnSpc>
                <a:spcPct val="1500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condition: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# code if true</a:t>
            </a:r>
          </a:p>
          <a:p>
            <a:pPr algn="just">
              <a:lnSpc>
                <a:spcPct val="1500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else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# code if false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81E9F66-2FB0-2EF0-FB21-7B7AC8C347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  <p:sp>
        <p:nvSpPr>
          <p:cNvPr id="3" name="Google Shape;103;p15">
            <a:extLst>
              <a:ext uri="{FF2B5EF4-FFF2-40B4-BE49-F238E27FC236}">
                <a16:creationId xmlns:a16="http://schemas.microsoft.com/office/drawing/2014/main" id="{101B9A9D-F09F-5DB6-D479-830FB4C99F84}"/>
              </a:ext>
            </a:extLst>
          </p:cNvPr>
          <p:cNvSpPr txBox="1"/>
          <p:nvPr/>
        </p:nvSpPr>
        <p:spPr>
          <a:xfrm>
            <a:off x="6858000" y="2844575"/>
            <a:ext cx="7924800" cy="5493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num1 = 10</a:t>
            </a:r>
          </a:p>
          <a:p>
            <a:pPr algn="just">
              <a:lnSpc>
                <a:spcPct val="1500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num1 % 2 == 0: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	print("Even number.")</a:t>
            </a:r>
          </a:p>
          <a:p>
            <a:pPr algn="just">
              <a:lnSpc>
                <a:spcPct val="1500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else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print("Odd number.")</a:t>
            </a:r>
          </a:p>
          <a:p>
            <a:pPr algn="just">
              <a:lnSpc>
                <a:spcPct val="150000"/>
              </a:lnSpc>
            </a:pPr>
            <a:endParaRPr lang="en-US" sz="3400" b="1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763018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8D86F987-AACD-7D7A-EC72-DDDD64DE6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58EEEFDF-46A1-4789-32E9-5AE6357B935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6A8AD85F-94E3-BE89-B9BF-6933040E72F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582B7D72-468C-9441-14FB-CC779C8379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D34F63DA-A18B-DC84-BB62-E4CF61A68932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E5A73F2F-E9DC-FE96-93AC-B3F92875B17B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Decision Making / Selection Statement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7493E8D4-E7CD-7134-775C-AE2E76F2F462}"/>
              </a:ext>
            </a:extLst>
          </p:cNvPr>
          <p:cNvSpPr txBox="1"/>
          <p:nvPr/>
        </p:nvSpPr>
        <p:spPr>
          <a:xfrm>
            <a:off x="304800" y="1257300"/>
            <a:ext cx="17654587" cy="7063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The if-</a:t>
            </a:r>
            <a:r>
              <a:rPr lang="en-US" sz="3400" b="1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elif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-else statement -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The </a:t>
            </a:r>
            <a:r>
              <a:rPr lang="en-US" sz="3400" b="1" i="1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elif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statement is like an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else-if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statement in other programming language. You can define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multiple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3400" b="1" i="1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elif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statements.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Syntax:</a:t>
            </a:r>
          </a:p>
          <a:p>
            <a:pPr algn="just">
              <a:lnSpc>
                <a:spcPct val="1500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condition: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# code if true</a:t>
            </a:r>
          </a:p>
          <a:p>
            <a:pPr algn="just">
              <a:lnSpc>
                <a:spcPct val="150000"/>
              </a:lnSpc>
            </a:pPr>
            <a:r>
              <a:rPr lang="en-US" sz="3400" b="1" i="1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elif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condition:</a:t>
            </a:r>
          </a:p>
          <a:p>
            <a:pPr algn="just">
              <a:lnSpc>
                <a:spcPct val="150000"/>
              </a:lnSpc>
            </a:pPr>
            <a:r>
              <a:rPr lang="en-US" sz="3400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#code if false</a:t>
            </a:r>
          </a:p>
          <a:p>
            <a:pPr algn="just">
              <a:lnSpc>
                <a:spcPct val="1500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else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# code if prev. is false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80D3C4F-5D42-005F-1FBF-8024AE6094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  <p:sp>
        <p:nvSpPr>
          <p:cNvPr id="3" name="Google Shape;103;p15">
            <a:extLst>
              <a:ext uri="{FF2B5EF4-FFF2-40B4-BE49-F238E27FC236}">
                <a16:creationId xmlns:a16="http://schemas.microsoft.com/office/drawing/2014/main" id="{194B1564-42B6-9BE4-D58F-54C7E62E680F}"/>
              </a:ext>
            </a:extLst>
          </p:cNvPr>
          <p:cNvSpPr txBox="1"/>
          <p:nvPr/>
        </p:nvSpPr>
        <p:spPr>
          <a:xfrm>
            <a:off x="6858000" y="2844575"/>
            <a:ext cx="7924800" cy="7309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grade = 88</a:t>
            </a:r>
          </a:p>
          <a:p>
            <a:pPr algn="just">
              <a:lnSpc>
                <a:spcPts val="57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grade &gt;= 90:</a:t>
            </a:r>
          </a:p>
          <a:p>
            <a:pPr algn="jus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print("A")</a:t>
            </a:r>
          </a:p>
          <a:p>
            <a:pPr algn="just">
              <a:lnSpc>
                <a:spcPts val="5700"/>
              </a:lnSpc>
            </a:pPr>
            <a:r>
              <a:rPr lang="en-US" sz="3400" b="1" i="1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elif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grade &gt;= 80:</a:t>
            </a:r>
          </a:p>
          <a:p>
            <a:pPr algn="jus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print("B")</a:t>
            </a:r>
          </a:p>
          <a:p>
            <a:pPr algn="just">
              <a:lnSpc>
                <a:spcPts val="5700"/>
              </a:lnSpc>
            </a:pPr>
            <a:r>
              <a:rPr lang="en-US" sz="3400" b="1" i="1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elif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grade &gt;= 70:</a:t>
            </a:r>
          </a:p>
          <a:p>
            <a:pPr algn="jus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print("C")</a:t>
            </a:r>
          </a:p>
          <a:p>
            <a:pPr algn="just">
              <a:lnSpc>
                <a:spcPts val="57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else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:</a:t>
            </a:r>
          </a:p>
          <a:p>
            <a:pPr algn="jus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print("Failed")</a:t>
            </a:r>
            <a:endParaRPr lang="en-US" sz="3400" b="1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5227054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F684A3DE-5134-2D6E-A15B-99B85D14D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BCE0DF19-06E2-FF66-6125-292584418D1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92C99DB5-68C7-45F0-75A6-B1E2F3DCC8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AC1C9664-5D3D-5FB4-3A7F-5C3D59CE803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F9101C91-8F17-4A78-BA8F-CBF9E1E03E63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3C41F3AC-B53B-465E-7DF0-96BF222840B0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Decision Making / Selection Statement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E00338D8-5CC6-4648-3317-1CF7B194E969}"/>
              </a:ext>
            </a:extLst>
          </p:cNvPr>
          <p:cNvSpPr txBox="1"/>
          <p:nvPr/>
        </p:nvSpPr>
        <p:spPr>
          <a:xfrm>
            <a:off x="304800" y="1257300"/>
            <a:ext cx="17654587" cy="5493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The shorthand if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- If you have only one statement to execute, use a ternary expression. You still need the colon after the condition.</a:t>
            </a:r>
            <a:endParaRPr lang="en-US" sz="3400" b="1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Syntax: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 condition: statement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 = 10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b = 20</a:t>
            </a:r>
          </a:p>
          <a:p>
            <a:pPr algn="just">
              <a:lnSpc>
                <a:spcPct val="1500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b &gt; a: print("b is greater than a")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A0567A5-5C77-1CEF-F0EB-9DE2E35EA2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12090511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0590FB7E-0988-A1B6-F1E7-FE373C1CC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5E94263E-AAEA-521A-BF94-23206277E8E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8C307812-45C7-50E6-13DB-7DCE936A14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1DAD06D5-1A4E-8409-84AA-FA6EA42FB6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6616FCF-22A8-CEAF-EE1D-F5F75B37D47C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257ECF45-3563-2369-2BEA-9BD7F7836EDE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Decision Making / Selection Statement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62560A16-6AC3-0721-A0D1-3C5D3E2BC8DF}"/>
              </a:ext>
            </a:extLst>
          </p:cNvPr>
          <p:cNvSpPr txBox="1"/>
          <p:nvPr/>
        </p:nvSpPr>
        <p:spPr>
          <a:xfrm>
            <a:off x="304800" y="1257300"/>
            <a:ext cx="17654587" cy="627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The shorthand if-else / Ternary Operator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 you have only one statement to execute on both the if and the else statement, use a ternary expression.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Syntax: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statementTrue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if condition else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statementFalse</a:t>
            </a: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 = 10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b = 20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print("a”) if a &gt; b else print("b")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77B76C0-B533-21CC-2200-B6DD844C35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17301942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C86C2F1B-B4EE-0C28-FD64-89CC3D5B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99D48506-A0D9-345C-66FD-7F854E96AA6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953C90EB-EC05-AC28-8EFD-EF85E7D32D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3363DDBE-48E8-AD50-34A2-6E0BA1BF24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32BA2358-4199-68C8-E3E3-D34A3493352D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8ED7E61B-E86B-EB8B-3390-630544F6CB91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Decision Making / Selection Statement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8687B292-4329-5B36-E8D1-E05C330D11E4}"/>
              </a:ext>
            </a:extLst>
          </p:cNvPr>
          <p:cNvSpPr txBox="1"/>
          <p:nvPr/>
        </p:nvSpPr>
        <p:spPr>
          <a:xfrm>
            <a:off x="304800" y="1257300"/>
            <a:ext cx="17654587" cy="89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8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Multiple Conditions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– you can use the logical operators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and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&amp;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or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.</a:t>
            </a:r>
          </a:p>
          <a:p>
            <a:pPr algn="just">
              <a:lnSpc>
                <a:spcPts val="58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Syntax:</a:t>
            </a:r>
          </a:p>
          <a:p>
            <a:pPr algn="just">
              <a:lnSpc>
                <a:spcPts val="58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condition1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and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condition2: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# code</a:t>
            </a:r>
          </a:p>
          <a:p>
            <a:pPr algn="just">
              <a:lnSpc>
                <a:spcPts val="58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else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# code</a:t>
            </a:r>
          </a:p>
          <a:p>
            <a:pPr algn="just">
              <a:lnSpc>
                <a:spcPts val="58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num = 10</a:t>
            </a:r>
          </a:p>
          <a:p>
            <a:pPr algn="just">
              <a:lnSpc>
                <a:spcPts val="58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num % 2 == 0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and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num &gt; 5: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print("Even number")</a:t>
            </a:r>
          </a:p>
          <a:p>
            <a:pPr algn="just">
              <a:lnSpc>
                <a:spcPts val="58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else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print("Odd number")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E3B2B9A-5E07-D467-7A36-2D2BC0CEB4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2184052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51CF0046-3D45-1F32-CE4C-5247E7D35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A2BB5C41-B485-933C-6D7D-626CCB8FBE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B2C966CD-6957-069A-AD64-23958E3267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990DDE87-DB7E-AC13-0535-E00DF9BDF08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25C757-7CBA-1515-0A17-6E86724461CA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DE40E496-4937-8440-51AB-F0F4DC0BF41E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Decision Making / Selection Statement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DFE27FDC-7747-0247-6453-CF2371655C97}"/>
              </a:ext>
            </a:extLst>
          </p:cNvPr>
          <p:cNvSpPr txBox="1"/>
          <p:nvPr/>
        </p:nvSpPr>
        <p:spPr>
          <a:xfrm>
            <a:off x="304800" y="1257300"/>
            <a:ext cx="17654587" cy="89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8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Multiple Conditions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– you can use the logical operators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and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&amp;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or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.</a:t>
            </a:r>
          </a:p>
          <a:p>
            <a:pPr algn="just">
              <a:lnSpc>
                <a:spcPts val="58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Syntax:</a:t>
            </a:r>
          </a:p>
          <a:p>
            <a:pPr algn="just">
              <a:lnSpc>
                <a:spcPts val="58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condition1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and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condition2: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# code</a:t>
            </a:r>
          </a:p>
          <a:p>
            <a:pPr algn="just">
              <a:lnSpc>
                <a:spcPts val="58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else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# code</a:t>
            </a:r>
          </a:p>
          <a:p>
            <a:pPr algn="just">
              <a:lnSpc>
                <a:spcPts val="58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num = 10</a:t>
            </a:r>
          </a:p>
          <a:p>
            <a:pPr algn="just">
              <a:lnSpc>
                <a:spcPts val="58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num % 2 == 0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and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num &gt; 5: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print("Even number")</a:t>
            </a:r>
          </a:p>
          <a:p>
            <a:pPr algn="just">
              <a:lnSpc>
                <a:spcPts val="58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else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print("Odd number")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8D83A3D-A8B1-EEF0-05E7-C27F75F9EB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  <p:sp>
        <p:nvSpPr>
          <p:cNvPr id="4" name="Google Shape;103;p15">
            <a:extLst>
              <a:ext uri="{FF2B5EF4-FFF2-40B4-BE49-F238E27FC236}">
                <a16:creationId xmlns:a16="http://schemas.microsoft.com/office/drawing/2014/main" id="{9B2437B5-420E-543C-3128-AAD932E5E56F}"/>
              </a:ext>
            </a:extLst>
          </p:cNvPr>
          <p:cNvSpPr txBox="1"/>
          <p:nvPr/>
        </p:nvSpPr>
        <p:spPr>
          <a:xfrm>
            <a:off x="8796944" y="2065213"/>
            <a:ext cx="8805256" cy="3654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Exercises:</a:t>
            </a:r>
          </a:p>
          <a:p>
            <a:pPr marL="514350" indent="-514350" algn="just">
              <a:lnSpc>
                <a:spcPts val="5700"/>
              </a:lnSpc>
              <a:buAutoNum type="arabicPeriod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Determine if a year is a leap year or not.</a:t>
            </a:r>
          </a:p>
          <a:p>
            <a:pPr marL="514350" indent="-514350" algn="just">
              <a:lnSpc>
                <a:spcPts val="5700"/>
              </a:lnSpc>
              <a:buAutoNum type="arabicPeriod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Determine whether a number is positive and is divisible by 3.</a:t>
            </a:r>
          </a:p>
        </p:txBody>
      </p:sp>
    </p:spTree>
    <p:extLst>
      <p:ext uri="{BB962C8B-B14F-4D97-AF65-F5344CB8AC3E}">
        <p14:creationId xmlns:p14="http://schemas.microsoft.com/office/powerpoint/2010/main" val="23670731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3748BCC8-76F9-73C7-DBCA-C9E988C96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8CD892BC-9683-C0DA-85D2-E26633EA48D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8B628D07-AE1F-3306-94CA-98DE4067E7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4D47BCA4-653F-1867-C769-AE236C402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6660C5D-40F5-416C-9343-AC86FAC3FCFE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F8ECB78D-5AD8-5170-E14C-18F7C7DD593C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Decision Making / Selection Statement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160966F7-839E-6C6A-768F-CBB58F3B868C}"/>
              </a:ext>
            </a:extLst>
          </p:cNvPr>
          <p:cNvSpPr txBox="1"/>
          <p:nvPr/>
        </p:nvSpPr>
        <p:spPr>
          <a:xfrm>
            <a:off x="304800" y="1257300"/>
            <a:ext cx="17654587" cy="6694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8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Nested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statements</a:t>
            </a: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algn="just">
              <a:lnSpc>
                <a:spcPts val="58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Syntax:</a:t>
            </a:r>
          </a:p>
          <a:p>
            <a:pPr algn="just">
              <a:lnSpc>
                <a:spcPts val="58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condition: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condition: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	# code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else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	# code</a:t>
            </a:r>
          </a:p>
          <a:p>
            <a:pPr algn="just">
              <a:lnSpc>
                <a:spcPts val="5800"/>
              </a:lnSpc>
            </a:pPr>
            <a:endParaRPr lang="en-US" sz="3400" b="1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algn="just">
              <a:lnSpc>
                <a:spcPts val="5800"/>
              </a:lnSpc>
            </a:pPr>
            <a:endParaRPr lang="en-US" sz="3400" b="1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3AAC144-BEA9-4175-27BB-65D88B385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  <p:sp>
        <p:nvSpPr>
          <p:cNvPr id="5" name="Google Shape;103;p15">
            <a:extLst>
              <a:ext uri="{FF2B5EF4-FFF2-40B4-BE49-F238E27FC236}">
                <a16:creationId xmlns:a16="http://schemas.microsoft.com/office/drawing/2014/main" id="{6D93F072-E24F-53DC-477E-28F9575EB2F7}"/>
              </a:ext>
            </a:extLst>
          </p:cNvPr>
          <p:cNvSpPr txBox="1"/>
          <p:nvPr/>
        </p:nvSpPr>
        <p:spPr>
          <a:xfrm>
            <a:off x="7620000" y="2065213"/>
            <a:ext cx="8805256" cy="5116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num = 15</a:t>
            </a:r>
          </a:p>
          <a:p>
            <a:pPr algn="jus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 num &gt; 0:</a:t>
            </a:r>
          </a:p>
          <a:p>
            <a:pPr algn="jus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if num % 2 == 0:</a:t>
            </a:r>
          </a:p>
          <a:p>
            <a:pPr algn="jus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	print("Positive Even")</a:t>
            </a:r>
          </a:p>
          <a:p>
            <a:pPr algn="jus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else:</a:t>
            </a:r>
          </a:p>
          <a:p>
            <a:pPr algn="just">
              <a:lnSpc>
                <a:spcPts val="57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	print("Positive Odd")</a:t>
            </a:r>
          </a:p>
        </p:txBody>
      </p:sp>
    </p:spTree>
    <p:extLst>
      <p:ext uri="{BB962C8B-B14F-4D97-AF65-F5344CB8AC3E}">
        <p14:creationId xmlns:p14="http://schemas.microsoft.com/office/powerpoint/2010/main" val="3033915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46C2414A-0D23-16AA-746F-224C4C63F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1DB0E66E-55A2-DB5C-8463-0B67743AE10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099912EB-F398-34B8-B43D-59991CC7B0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14A40773-22E0-DA65-F794-56BC818B53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13A7897-399B-F22F-837D-EC0D02453B94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8F6F070E-BF4D-0921-5161-AF96EB571DBD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Decision Making / Selection Statement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209C7586-FF1F-CB2B-AA2A-A170332EC8C1}"/>
              </a:ext>
            </a:extLst>
          </p:cNvPr>
          <p:cNvSpPr txBox="1"/>
          <p:nvPr/>
        </p:nvSpPr>
        <p:spPr>
          <a:xfrm>
            <a:off x="304800" y="1257300"/>
            <a:ext cx="17654587" cy="89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8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The match statement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- You can also use the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match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statement to perform a different action based on a condition instead of writing consecutive blocks of if-else statements. It executes the code block from a case if the value matches or the condition/s is met.</a:t>
            </a:r>
          </a:p>
          <a:p>
            <a:pPr algn="just">
              <a:lnSpc>
                <a:spcPts val="58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Syntax:</a:t>
            </a:r>
          </a:p>
          <a:p>
            <a:pPr algn="just">
              <a:lnSpc>
                <a:spcPts val="58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match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variable: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value1: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		code block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value2: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		code block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_: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		default case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9534958-E590-79CB-D369-17B8938F8E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  <p:sp>
        <p:nvSpPr>
          <p:cNvPr id="4" name="Google Shape;103;p15">
            <a:extLst>
              <a:ext uri="{FF2B5EF4-FFF2-40B4-BE49-F238E27FC236}">
                <a16:creationId xmlns:a16="http://schemas.microsoft.com/office/drawing/2014/main" id="{BB9ED7A7-E850-524F-1CF2-62CBF9C7A5D2}"/>
              </a:ext>
            </a:extLst>
          </p:cNvPr>
          <p:cNvSpPr txBox="1"/>
          <p:nvPr/>
        </p:nvSpPr>
        <p:spPr>
          <a:xfrm>
            <a:off x="6096000" y="4305300"/>
            <a:ext cx="12122468" cy="5847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7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Notes:</a:t>
            </a:r>
          </a:p>
          <a:p>
            <a:pPr marL="457200" indent="-457200" algn="just">
              <a:lnSpc>
                <a:spcPts val="5700"/>
              </a:lnSpc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_ (underscore)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works like a "default" or "else" case so, the code block here will be executed if there are no matches.</a:t>
            </a:r>
          </a:p>
          <a:p>
            <a:pPr marL="457200" indent="-457200" algn="just">
              <a:lnSpc>
                <a:spcPts val="57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The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match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expression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is only evaluated once.</a:t>
            </a:r>
          </a:p>
          <a:p>
            <a:pPr marL="457200" indent="-457200" algn="just">
              <a:lnSpc>
                <a:spcPts val="57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Once the value of the expression is matched to a case, the associated block is executed, and it will not proceed with the remaining cases anymore. </a:t>
            </a:r>
          </a:p>
        </p:txBody>
      </p:sp>
    </p:spTree>
    <p:extLst>
      <p:ext uri="{BB962C8B-B14F-4D97-AF65-F5344CB8AC3E}">
        <p14:creationId xmlns:p14="http://schemas.microsoft.com/office/powerpoint/2010/main" val="42144117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AACDF84C-1695-030C-FC8D-E8DF9A78A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86101299-C93E-F506-B1E6-41E78AEEAC9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B625F006-7577-89EF-DFC2-CC54301C7F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EB9A6D16-5FC0-BBF3-F025-9FF766753D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F0A95D8-0427-BDBD-8F83-02FA1DCFF14C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D134DA53-398C-4DDF-B0E9-29FD1B8C6201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Decision Making / Selection Statement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4532912D-77A4-DE8F-FE39-65603CB24E2F}"/>
              </a:ext>
            </a:extLst>
          </p:cNvPr>
          <p:cNvSpPr txBox="1"/>
          <p:nvPr/>
        </p:nvSpPr>
        <p:spPr>
          <a:xfrm>
            <a:off x="304800" y="1257300"/>
            <a:ext cx="17654587" cy="81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numCol="2" anchor="t" anchorCtr="0">
            <a:spAutoFit/>
          </a:bodyPr>
          <a:lstStyle/>
          <a:p>
            <a:pPr algn="just">
              <a:lnSpc>
                <a:spcPts val="58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day = 3</a:t>
            </a:r>
          </a:p>
          <a:p>
            <a:pPr algn="just">
              <a:lnSpc>
                <a:spcPts val="58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match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day: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1: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("Monday")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2: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("Tuesday")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3: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("Wednesday")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  </a:t>
            </a:r>
          </a:p>
          <a:p>
            <a:pPr algn="just">
              <a:lnSpc>
                <a:spcPts val="58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algn="just">
              <a:lnSpc>
                <a:spcPts val="58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4: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("Thursday")</a:t>
            </a:r>
          </a:p>
          <a:p>
            <a:pPr algn="just">
              <a:lnSpc>
                <a:spcPts val="58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5: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("Friday")</a:t>
            </a:r>
          </a:p>
          <a:p>
            <a:pPr algn="just">
              <a:lnSpc>
                <a:spcPts val="58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6: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("Saturday")</a:t>
            </a:r>
          </a:p>
          <a:p>
            <a:pPr algn="just">
              <a:lnSpc>
                <a:spcPts val="58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7: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("Sunday")</a:t>
            </a:r>
          </a:p>
          <a:p>
            <a:pPr algn="just">
              <a:lnSpc>
                <a:spcPts val="58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_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:</a:t>
            </a:r>
          </a:p>
          <a:p>
            <a:pPr algn="just">
              <a:lnSpc>
                <a:spcPts val="58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("Invalid day")</a:t>
            </a:r>
          </a:p>
          <a:p>
            <a:pPr algn="just">
              <a:lnSpc>
                <a:spcPts val="58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C4AB31E-16C2-785D-F448-2F1F62B8C6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9536549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C18A2FCA-1C15-066D-632C-E3719688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1699BE18-63B6-0B4D-4764-E1AA7C4FEEA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DC8A6D15-C9B9-C694-05ED-686C76EF1A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21B77784-A6F4-93B7-66EE-DE3FFEADC2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F5431F5-4CA0-89F7-295F-84A38BCACB9A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88A6EF30-8A16-ABF5-3A5F-FA8EF95E858F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Decision Making / Selection Statement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A79050FD-2A42-3C2F-A0E1-618807DD61B8}"/>
              </a:ext>
            </a:extLst>
          </p:cNvPr>
          <p:cNvSpPr txBox="1"/>
          <p:nvPr/>
        </p:nvSpPr>
        <p:spPr>
          <a:xfrm>
            <a:off x="304800" y="1257300"/>
            <a:ext cx="17654587" cy="78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Using multiple values in one case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- Use the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pipe character |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as an or operator in the case evaluation to check for more than one value match in one case.</a:t>
            </a:r>
          </a:p>
          <a:p>
            <a:pPr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day = 4</a:t>
            </a:r>
          </a:p>
          <a:p>
            <a:pPr algn="just">
              <a:lnSpc>
                <a:spcPct val="1500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match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day: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1 | 2 | 3 | 4 | 5: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("Today is weekday")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6 | 7:</a:t>
            </a:r>
          </a:p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("I love weekends.")</a:t>
            </a:r>
          </a:p>
          <a:p>
            <a:pPr algn="just">
              <a:lnSpc>
                <a:spcPct val="1500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58DB1FF-1B6A-E9DD-7412-5B32FD3D13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279122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A03C3992-9446-753F-89BD-213032964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6A9A9B5C-1BF0-6936-8A9D-A41AEA174FF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7FC6C05F-54B2-0A0C-B70A-D7D6A79012B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BAB3FAB3-4F54-8A77-64FE-09148A02D7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71C48E1-CA72-2CCB-4058-AAA24EA6AC2D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5762230B-EB6B-A074-FDA5-07CD876B18B8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Decision Making / Selection Statement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7D98FF26-0FF8-2F8E-98F0-66B87B197646}"/>
              </a:ext>
            </a:extLst>
          </p:cNvPr>
          <p:cNvSpPr txBox="1"/>
          <p:nvPr/>
        </p:nvSpPr>
        <p:spPr>
          <a:xfrm>
            <a:off x="304800" y="1257300"/>
            <a:ext cx="17654587" cy="9169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Using an if statement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- You can add conditions using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, also called a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guard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. The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use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of an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undeclared variable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in the case statement is only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possible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with the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use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of an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statement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. It will be called a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pattern variable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, where it takes the value being matched.</a:t>
            </a:r>
          </a:p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num = 15</a:t>
            </a:r>
          </a:p>
          <a:p>
            <a:pPr algn="just">
              <a:lnSpc>
                <a:spcPts val="5500"/>
              </a:lnSpc>
            </a:pP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match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num: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x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x &gt; 0: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("Positive number.")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x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x &lt; 0: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("Negative number.")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0: # 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case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_: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		</a:t>
            </a:r>
            <a:r>
              <a:rPr lang="en-US" sz="3400" b="1" i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("Zero")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3C9DE28-2ECE-8672-6B41-9E1B5D6425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1468708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05661D4E0C80409E0670B4A251F545" ma:contentTypeVersion="7" ma:contentTypeDescription="Create a new document." ma:contentTypeScope="" ma:versionID="724ba54ef5b52264e49916644082e7e0">
  <xsd:schema xmlns:xsd="http://www.w3.org/2001/XMLSchema" xmlns:xs="http://www.w3.org/2001/XMLSchema" xmlns:p="http://schemas.microsoft.com/office/2006/metadata/properties" xmlns:ns2="51223dca-c295-4754-958e-39a8bc32c9a8" targetNamespace="http://schemas.microsoft.com/office/2006/metadata/properties" ma:root="true" ma:fieldsID="1066a1b2f7b9c1c8290496c73b48af36" ns2:_="">
    <xsd:import namespace="51223dca-c295-4754-958e-39a8bc32c9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223dca-c295-4754-958e-39a8bc32c9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4162778-FC18-4F29-B6EB-4BEB46A49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C48D30-CF8A-4267-8E7F-8BFEFF22F8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223dca-c295-4754-958e-39a8bc32c9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B81F658-D2B6-4132-87A6-A2E5BF5DC19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16343</TotalTime>
  <Words>3486</Words>
  <Application>Microsoft Office PowerPoint</Application>
  <PresentationFormat>Custom</PresentationFormat>
  <Paragraphs>439</Paragraphs>
  <Slides>40</Slides>
  <Notes>40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 4 - Lesson 5</dc:title>
  <dc:creator>Mark Denver Adora</dc:creator>
  <cp:lastModifiedBy>Mark Denver Adora</cp:lastModifiedBy>
  <cp:revision>883</cp:revision>
  <dcterms:created xsi:type="dcterms:W3CDTF">2006-08-16T00:00:00Z</dcterms:created>
  <dcterms:modified xsi:type="dcterms:W3CDTF">2026-09-16T03:13:36Z</dcterms:modified>
  <dc:identifier>DAGH1tVytZk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0x0101007505661D4E0C80409E0670B4A251F545</vt:lpwstr>
  </property>
</Properties>
</file>