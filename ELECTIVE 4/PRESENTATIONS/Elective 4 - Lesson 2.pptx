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325" r:id="rId3"/>
    <p:sldId id="326" r:id="rId4"/>
    <p:sldId id="340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1" r:id="rId19"/>
    <p:sldId id="342" r:id="rId20"/>
    <p:sldId id="343" r:id="rId21"/>
    <p:sldId id="344" r:id="rId22"/>
    <p:sldId id="345" r:id="rId23"/>
    <p:sldId id="346" r:id="rId24"/>
  </p:sldIdLst>
  <p:sldSz cx="18288000" cy="10287000"/>
  <p:notesSz cx="6858000" cy="9144000"/>
  <p:embeddedFontLs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8"/>
    <a:srgbClr val="FDF7C6"/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77" autoAdjust="0"/>
    <p:restoredTop sz="87582" autoAdjust="0"/>
  </p:normalViewPr>
  <p:slideViewPr>
    <p:cSldViewPr>
      <p:cViewPr varScale="1">
        <p:scale>
          <a:sx n="46" d="100"/>
          <a:sy n="46" d="100"/>
        </p:scale>
        <p:origin x="7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19/08/2026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19/08/2026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87CDD1A-F4AB-EDD6-A8DC-F353C71F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98450CE-33EF-802F-EB92-1AA093AF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7772F4F-C92E-BC87-8C02-BD9C3E7619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5370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CEF881A-28EC-AFEA-2BC7-66F5FA97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357A8062-AE2A-0309-21F0-FEAD84BA4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A80500F-AB86-35A6-E55E-12C5650D5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6946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DBACF6B-D07A-9B92-2496-511AD987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1B30522-BDC9-B52C-12DA-7A5B3A199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7DF4242-DECB-F736-5A0F-68D05E546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062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4B42A2F-B8C6-11AD-8FA9-468BDD75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3BF4187-0C59-3DC8-86AA-BB09E0150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AA9DA55-0DD6-96F0-54FF-24558FC54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8201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27A3125-A254-4ECE-5E0A-5C66F3F5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C6FE055D-1856-B7A7-270B-7EE07FD26C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9E9E7A0-F052-DA46-D671-41AB3CD42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8866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98B0618-EDD7-CC43-F88E-D4525954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41D3A75-637C-6356-FE6F-34EEF32BE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FC21DD9-FBDB-3BDA-01D9-68070C799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75289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4378247-0AA4-7894-9FDB-6D8B7C16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905407C-36F9-6049-D686-D219BEE2D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8CD3801-C1CE-8F89-AD3E-C90275EAE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7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81B38F0-FA51-A7D9-88DA-A308EAB5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801429E-632D-0A2E-6495-DFE178330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7D4B0F8-AF2D-258A-7AA1-2F40AB095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9074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DD6223F-731C-1FDB-7EFC-C6EC1F82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E876E7BF-7CC7-F402-4023-B42752E92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6AD8392-72CA-AE60-3E38-EEDE26371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6162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D7434CB-F7D4-BBE1-D0D7-AF89F0CA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AAA2C26-6236-0945-B4FA-9CC9EC666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F9513E3-7C71-D05E-2548-6FD36216B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988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0A6B95B-809F-A198-103B-6AA0EF48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8BC40D1-BAA0-F330-0BDE-BB442951F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6A47841-673A-1CBB-BF7A-B007246BB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8186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C3DE150-AC0B-A9A2-1442-93B8DDA9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F2F962E0-F206-760C-5ACE-AF0EC7A11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A2014D-4A87-E0E8-7426-248CFD67B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0544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10D4B2E-9C8A-7A63-60D3-15B45499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B1E4A9C-A336-0ED1-32AB-4AE44ECAA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22D4DC8-856F-9232-2CA2-BAED9C8A6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0201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8C9B35F-B407-40BF-F668-2A11B878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63BDD988-6471-FAE3-112F-05908BA26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57157DB-4816-DD88-D66D-9B4BA61C8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86835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D118025-1555-73F4-4271-BD8DC35F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7BE2CD37-2877-D05E-ED55-B99939121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729E862-F1F4-E9F8-7705-80A61862B5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5813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36EBF80-3F5C-598D-1C10-74535357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A3EE05C-8566-2FA6-58A9-7F0D8A1AA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D3B63BB-DCF5-447E-9D8E-0747361F8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46717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C40CC7C-FDF1-CC57-4639-95E17A08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1B631E3-E8B3-A8D7-D928-8FA4AFBDC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33F9E5E-FFB0-9C04-27DF-B352C9426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2226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179CB76-77FA-12FE-CF07-FD65AD8B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A5D34B51-9A03-0BD9-7DE5-A65F6D4D1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85DC7EC-FD52-B81B-E60D-EEB54CF3F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27641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A143339-2FAC-0816-0A9E-7563BAA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C143A81D-A789-4931-65FD-27E7EE0D6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D22BC4D-38BA-6550-A426-348C1CBCC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67713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9F0DF8C7-0409-D87D-4790-0869BFB1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1516C112-DC1D-E7CA-725B-1B9D679DD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D23CC1A-EB6F-BF25-B1EE-656798DFA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4681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982B056-5ED2-2F84-D56D-27090395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BFC2F019-505A-FF81-7726-FE26BA8D5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275B5BA-4717-DD01-C766-F629CC5F1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0257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86D501D-31CB-8771-AF83-2946C28D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04564CA0-DCFD-6F85-CA41-591EBB676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1EE91A9-8072-261A-33B1-31F9D2947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943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15">
            <a:extLst>
              <a:ext uri="{FF2B5EF4-FFF2-40B4-BE49-F238E27FC236}">
                <a16:creationId xmlns:a16="http://schemas.microsoft.com/office/drawing/2014/main" id="{B4FD9F47-32EA-0B40-60C9-C26413111F30}"/>
              </a:ext>
            </a:extLst>
          </p:cNvPr>
          <p:cNvSpPr/>
          <p:nvPr userDrawn="1"/>
        </p:nvSpPr>
        <p:spPr>
          <a:xfrm>
            <a:off x="309562" y="200025"/>
            <a:ext cx="142875" cy="85725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6610E3-5063-29E1-70B4-1D32CFB5E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63800" y="9920219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dirty="0"/>
              <a:t>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6324" y="81359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6" name="Google Shape;85;p13">
            <a:extLst>
              <a:ext uri="{FF2B5EF4-FFF2-40B4-BE49-F238E27FC236}">
                <a16:creationId xmlns:a16="http://schemas.microsoft.com/office/drawing/2014/main" id="{76F867A9-D422-C49C-55BB-072203541854}"/>
              </a:ext>
            </a:extLst>
          </p:cNvPr>
          <p:cNvSpPr txBox="1"/>
          <p:nvPr/>
        </p:nvSpPr>
        <p:spPr>
          <a:xfrm>
            <a:off x="5975032" y="3695700"/>
            <a:ext cx="633793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Chapter 2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F3CFCFD9-F42E-F100-6900-CAB83FD2AE37}"/>
              </a:ext>
            </a:extLst>
          </p:cNvPr>
          <p:cNvGrpSpPr/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E8336256-6156-C76B-334C-89AF9FC717B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F56F91F6-E422-C011-9DE1-B40F2AA69D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A7A0E2B-DE8F-BA60-AA16-E2384F3A99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A7FA7EC0-0276-D60E-56FC-A2D1B8BF3837}"/>
              </a:ext>
            </a:extLst>
          </p:cNvPr>
          <p:cNvSpPr txBox="1"/>
          <p:nvPr/>
        </p:nvSpPr>
        <p:spPr>
          <a:xfrm>
            <a:off x="1441132" y="5295900"/>
            <a:ext cx="1540573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54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Basic Elements of Python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173279B-9489-A932-B487-1D049A89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71426C5E-8C92-78CB-1D46-2AD2E8EFEBE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10DCBA1-8F14-654E-B2CF-5A12D1A7D1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B01D725-D66D-1A5F-B4CC-07FBCF059B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3C30D04-38D0-D015-1CEC-AAFB4268BD83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2468C3A4-6009-1F77-3F03-3D1E6BC4AA26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How to write a program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0E34ABAE-48AD-E09A-6907-F6B2E9F49D49}"/>
              </a:ext>
            </a:extLst>
          </p:cNvPr>
          <p:cNvSpPr txBox="1"/>
          <p:nvPr/>
        </p:nvSpPr>
        <p:spPr>
          <a:xfrm>
            <a:off x="304800" y="1257300"/>
            <a:ext cx="17654587" cy="549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Given that Python is an interpreted programming language, developers must first create Python (.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py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) files in a text editor before submitting them to the Python interpreter for execution. Python programs are written as a set of instructions executed line by line. The simplest way to write a program is to use a text editor. Let’s say you have created a python file called index.py which can be done in any text editor. </a:t>
            </a:r>
          </a:p>
          <a:p>
            <a:pPr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E6809A3-0A84-D833-720C-AC5490BBE1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271F85A-CDFA-7096-E1FF-0ED3A445F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4" t="8854" b="73763"/>
          <a:stretch/>
        </p:blipFill>
        <p:spPr bwMode="auto">
          <a:xfrm>
            <a:off x="300904" y="6182089"/>
            <a:ext cx="15861607" cy="2156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25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FDA9D30-A341-B080-AB60-4C06AB67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B05A7FB-C7B9-DBCD-2EEA-57E5EBD499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13A714A-A5F5-EFE8-8FD1-60AA9D976A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7A083FB-A204-8D67-E765-965D038EFB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CC989BF-ED49-9D33-30D2-332F41C62F31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14A3316-E7CD-1A86-8B88-2A35960C5F33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Data Types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CB98BEAE-1BFC-477E-E0FA-7CC165335127}"/>
              </a:ext>
            </a:extLst>
          </p:cNvPr>
          <p:cNvSpPr txBox="1"/>
          <p:nvPr/>
        </p:nvSpPr>
        <p:spPr>
          <a:xfrm>
            <a:off x="304800" y="1257300"/>
            <a:ext cx="17654587" cy="767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1. Text type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Strings in python are surrounded by either single or double quotation marks.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Types: str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1 (Single-line declaration)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"Mark Denver"	</a:t>
            </a:r>
          </a:p>
          <a:p>
            <a:pPr algn="just"/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/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/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2 (Multi-line declaration)</a:t>
            </a:r>
          </a:p>
          <a:p>
            <a:pPr algn="just"/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greet = """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Welcome to Python!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Have a great day!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"""</a:t>
            </a:r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017D972-C47E-D265-EAA1-2765339105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3714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AAB6F26-51D1-D327-FDBD-2B937526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23AC61DE-89A8-C211-AC09-90A809548A4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4A0A83A-2105-3836-87DE-A9BA2CA496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0F6E12B-F75E-6C10-0782-E21F9D5805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017EE9-E64A-D668-533C-265EEAE14CE8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C1B28FE6-28C1-7EBD-3EC3-7CEAA56F39A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Data Types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B4780318-E7F3-639A-48D8-0D41F3CBD37B}"/>
              </a:ext>
            </a:extLst>
          </p:cNvPr>
          <p:cNvSpPr txBox="1"/>
          <p:nvPr/>
        </p:nvSpPr>
        <p:spPr>
          <a:xfrm>
            <a:off x="304800" y="1257300"/>
            <a:ext cx="17654587" cy="4937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2. Numeric type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Variables of numeric types are created when you assign a value to them.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Types: int, float, complex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x = 1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x = 3.5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x = 5 + 3j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44BE8B9-0517-1339-E161-853CEA795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63558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D022AEAA-6849-2694-0F25-B3E37A3D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01CA84DB-7B3B-ED23-739C-4D6176F3DA6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D292B4D-753A-A1F0-F354-F7C08D8949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5D6382B-943B-7D85-1EBD-247D2700F1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6B5FCBC-64B7-3706-8D01-B83405FB701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37D222E-C81E-A964-71F0-7869AF78811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Data Types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E48A911A-5867-9DBB-4246-E3140EAF49AB}"/>
              </a:ext>
            </a:extLst>
          </p:cNvPr>
          <p:cNvSpPr txBox="1"/>
          <p:nvPr/>
        </p:nvSpPr>
        <p:spPr>
          <a:xfrm>
            <a:off x="304800" y="1257300"/>
            <a:ext cx="17654587" cy="846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3. Collection type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Are used to store multiple items in a single variable.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Types: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list, tuple, set,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dict</a:t>
            </a: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500"/>
              </a:lnSpc>
            </a:pP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myList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= [1, 2, 3, 4, 5, "a", "b"]</a:t>
            </a:r>
          </a:p>
          <a:p>
            <a:pPr algn="just">
              <a:lnSpc>
                <a:spcPts val="5500"/>
              </a:lnSpc>
            </a:pP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myTuple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= (1, 2, 3)</a:t>
            </a:r>
          </a:p>
          <a:p>
            <a:pPr algn="just">
              <a:lnSpc>
                <a:spcPts val="5500"/>
              </a:lnSpc>
            </a:pP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mySet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= {1, 2, 3}</a:t>
            </a:r>
          </a:p>
          <a:p>
            <a:pPr algn="just">
              <a:lnSpc>
                <a:spcPts val="5500"/>
              </a:lnSpc>
            </a:pP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myDictionary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= {"key1" : "value1" , "key2" : "value2"}</a:t>
            </a:r>
          </a:p>
          <a:p>
            <a:pPr algn="just">
              <a:lnSpc>
                <a:spcPts val="55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4. Boolean type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Represent one of two values: True or False.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Types: bool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flag = True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A0CC78-DCA4-D005-AF55-610ADB7FDA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80225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BD5905C-E38D-7607-F24B-83CAEBF8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F36F4049-D3F1-B7C8-D252-112208716C7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3155247-DBAA-5466-B3DF-9F4CD2C0E0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7E38C34-4E31-704B-F9C4-3E6ABBDFD4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DC0EA55-823B-2148-0B49-04B29FDA0209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F9087776-D781-57F8-828B-A548F280BEEF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Data Types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D1514B20-71F2-0D1D-9643-552C67C161F9}"/>
              </a:ext>
            </a:extLst>
          </p:cNvPr>
          <p:cNvSpPr txBox="1"/>
          <p:nvPr/>
        </p:nvSpPr>
        <p:spPr>
          <a:xfrm>
            <a:off x="304800" y="1257300"/>
            <a:ext cx="17654587" cy="352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5. None type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- A data type that simply shows that an object has no value/has a value of None.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Types: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NoneType</a:t>
            </a: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var1 = None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449DF37-7054-1338-0720-A33673FE26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53869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107CB19-8706-88C8-4C01-577C2AC8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655EA732-DACD-CD02-2990-5BB5F80BD2D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860EF778-B30C-7D20-40CF-B0F9B946F5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DC97679D-8C94-530D-792E-F28AECEB0B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ECEB3DE-AEF4-48F9-899F-12CA6BDC6DB2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DE82FE9E-E8E9-2C38-DDC2-72CB56569515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D0EC1121-FBF5-8136-85DD-79F47674D967}"/>
              </a:ext>
            </a:extLst>
          </p:cNvPr>
          <p:cNvSpPr txBox="1"/>
          <p:nvPr/>
        </p:nvSpPr>
        <p:spPr>
          <a:xfrm>
            <a:off x="304800" y="1257300"/>
            <a:ext cx="17654587" cy="775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Variables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containers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for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storing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data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values.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 variable can have a short name (like x and y) or a more descriptive name (age,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carname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total_volume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). </a:t>
            </a:r>
          </a:p>
          <a:p>
            <a:pPr algn="just">
              <a:lnSpc>
                <a:spcPts val="55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Rules for Python variables: </a:t>
            </a:r>
          </a:p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 variable name must start with a letter or the underscore character</a:t>
            </a:r>
          </a:p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 variable name cannot start with a number</a:t>
            </a:r>
          </a:p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 variable name can only contain alpha-numeric characters and underscores (A-z, 0-9, and _ )</a:t>
            </a:r>
          </a:p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Variable names are case-sensitive (age, Age and AGE are three different variables)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9730DE-8B1A-9493-2BE5-0F4412570D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749907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CD93BCC-CA8F-4F4D-4E4B-C4B89AD0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A174D86-32F5-4FDE-B115-948245C04D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7BB990B-00FD-E294-0C8C-E12B412E95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8C4DF88-6CEB-1750-4812-3F725F4788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93D538F-BCD4-1F0D-BE1B-11DC6DBA8C64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15793AF-06FD-3ABC-E4F9-3A492B18A904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Casting Variables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A2F55677-79E1-4BA2-0E5A-3F9A03006A42}"/>
              </a:ext>
            </a:extLst>
          </p:cNvPr>
          <p:cNvSpPr txBox="1"/>
          <p:nvPr/>
        </p:nvSpPr>
        <p:spPr>
          <a:xfrm>
            <a:off x="304800" y="1257300"/>
            <a:ext cx="17654587" cy="846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you want to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specify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the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data type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of a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variable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this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can be done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with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casting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 str(), int(), float(), etc. are called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 conversion functions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or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type casting functions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in Python. They are used to convert a value from one data type to another.</a:t>
            </a:r>
          </a:p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				Output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x = str(3)    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y = int(3)  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z = float(3)</a:t>
            </a:r>
          </a:p>
          <a:p>
            <a:pPr algn="just">
              <a:lnSpc>
                <a:spcPts val="55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print(x)					3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print(y)					3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print(z)					3.0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1952DD8-FCB6-34E0-D357-1FC27884C9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592513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8B136F49-2783-57A0-C4F3-19588341C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2E938AB-CC8A-AFB6-4CE8-45A95E00D5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5595DEE-61F2-B2D0-01AB-5CB4CD3D52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8827C12E-4402-2DEA-5B0D-8139F35A24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A95D400-832B-BF55-0CC5-9705BCB520C4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E4C8E127-1791-73F2-1C56-1FA30AD4F3BC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A8683F91-4FCC-2D16-FA76-0BA157064198}"/>
              </a:ext>
            </a:extLst>
          </p:cNvPr>
          <p:cNvSpPr txBox="1"/>
          <p:nvPr/>
        </p:nvSpPr>
        <p:spPr>
          <a:xfrm>
            <a:off x="304800" y="1257300"/>
            <a:ext cx="17654587" cy="352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Operators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are used to perform operations on variables and values.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In the example below, we use the + operator to add together two values:</a:t>
            </a:r>
          </a:p>
          <a:p>
            <a:pPr algn="just">
              <a:lnSpc>
                <a:spcPts val="55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print(10 + 5)</a:t>
            </a:r>
          </a:p>
          <a:p>
            <a:pPr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print("Good " + "Morning!" 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43EE14A-C5FA-1F81-614B-3C404BDE86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376226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72F0B63-E89C-D8F8-E8F8-FE6EDABD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7F510B15-5749-615E-7873-0F6B54826E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E53FB5E-27DE-26A9-9F90-194FD5A6CA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984FA810-5DF3-3A37-9B53-CC451D3E04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9C5B45-FFAD-B810-132E-7E0A073FEFB4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98F93769-D929-EC77-C25C-0697C49B6045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Arithmetic 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2ED86202-51A3-9C8B-624A-E250B4958A55}"/>
              </a:ext>
            </a:extLst>
          </p:cNvPr>
          <p:cNvSpPr txBox="1"/>
          <p:nvPr/>
        </p:nvSpPr>
        <p:spPr>
          <a:xfrm>
            <a:off x="304800" y="1257300"/>
            <a:ext cx="17654587" cy="141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Arithmetic operators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used with numeric values to perform common mathematical operations.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A2E66E1-1DA7-8DEF-EA3C-B40BD1A19F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FC781B-5BB6-32B5-F8B6-DF110A069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934864"/>
              </p:ext>
            </p:extLst>
          </p:nvPr>
        </p:nvGraphicFramePr>
        <p:xfrm>
          <a:off x="304800" y="2929382"/>
          <a:ext cx="17654586" cy="6804365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88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Name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Addition</a:t>
                      </a:r>
                      <a:endParaRPr lang="en-US" sz="340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+ y</a:t>
                      </a:r>
                      <a:endParaRPr lang="en-US" sz="340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Subtraction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- y</a:t>
                      </a:r>
                      <a:endParaRPr lang="en-US" sz="340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Multiplication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* y</a:t>
                      </a:r>
                      <a:endParaRPr lang="en-US" sz="340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Division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/ y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%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Modulus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% y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**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Exponentiation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** y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//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Floor division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// y</a:t>
                      </a:r>
                      <a:endParaRPr lang="en-US" sz="340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88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AD8067F-89FF-2F83-FF35-B669578D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76767E9-23EB-B686-D83A-F0AA2C819B0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1CE42A9-0615-2B81-DA90-7ECD81F6C2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627BF098-FF2E-D52E-A20C-357C828121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4FB978E-6F62-0B12-AAB3-3DD1417493C0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7AB32AD2-8108-E38C-DD9B-6BB1D4D5061F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Assignment 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6A403763-5C63-985A-A317-30DD22B1ECF8}"/>
              </a:ext>
            </a:extLst>
          </p:cNvPr>
          <p:cNvSpPr txBox="1"/>
          <p:nvPr/>
        </p:nvSpPr>
        <p:spPr>
          <a:xfrm>
            <a:off x="304800" y="1257300"/>
            <a:ext cx="17654587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Assignment operators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used to assign values to variables.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456F16-D202-D80C-03AF-1BAD4D1C58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3649B3-F6E3-722F-5066-78B8B5900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033153"/>
              </p:ext>
            </p:extLst>
          </p:nvPr>
        </p:nvGraphicFramePr>
        <p:xfrm>
          <a:off x="304800" y="2072935"/>
          <a:ext cx="17654586" cy="76602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88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Same as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5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+=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+ 3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-=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- 3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*=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*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/=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/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%=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%=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%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//=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//=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//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**=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**= 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 x ** 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70660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62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D12B1437-2E76-B947-3DF9-21F56DD9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99F572A0-CCE2-AE93-11E5-F166C0BC97F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4F32F9F-C21B-1B85-4DC1-0997A2ED99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24163710-4AD9-1B9B-C8E2-089329D03E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0EDBDC6-8B45-3AFE-3640-DF2490EC1EBD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B1E42002-4ED3-1943-341C-91A7F33C79EC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Comparison 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0F3350B2-69A8-E2F5-3AF3-8312AFBA5C62}"/>
              </a:ext>
            </a:extLst>
          </p:cNvPr>
          <p:cNvSpPr txBox="1"/>
          <p:nvPr/>
        </p:nvSpPr>
        <p:spPr>
          <a:xfrm>
            <a:off x="304800" y="1257300"/>
            <a:ext cx="17654587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Comparison operators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used to compare two values.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E1578F-5FE9-9A4C-5122-10B8D0525C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BCFFE3-544E-84A5-9833-91F2D1BE8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198310"/>
              </p:ext>
            </p:extLst>
          </p:nvPr>
        </p:nvGraphicFramePr>
        <p:xfrm>
          <a:off x="304800" y="2072935"/>
          <a:ext cx="17654586" cy="594847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88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Same as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Equal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==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!=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 equal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!=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&gt;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Greater than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&gt;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Less than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&lt;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&gt;=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Greater than or equal to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&gt;=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&lt;=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Less than or equal to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&lt;=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583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2BA7ACB7-9A87-AD43-ABD9-F43A683A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77C17584-0628-7187-26D5-4D258A4A141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BC7EEDD-D83C-6CFB-B640-9437EF009C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CBD5875-B126-EC6D-CE00-51E09188B3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F3AAE55-80D9-8E87-3042-592B0ED008E9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4A690AB4-F16A-0110-E5A7-4A41FDCA1A8B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Logical 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01971C2-3DB2-F512-5AB9-DE2E06DC6852}"/>
              </a:ext>
            </a:extLst>
          </p:cNvPr>
          <p:cNvSpPr txBox="1"/>
          <p:nvPr/>
        </p:nvSpPr>
        <p:spPr>
          <a:xfrm>
            <a:off x="304800" y="1257300"/>
            <a:ext cx="17654587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Logical operators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used to combine conditional statements.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CF37282-67DA-FDF5-11EB-AA02F39F1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9DE3CB-B524-0BDD-3D67-EF1F0E514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735442"/>
              </p:ext>
            </p:extLst>
          </p:nvPr>
        </p:nvGraphicFramePr>
        <p:xfrm>
          <a:off x="304800" y="2072935"/>
          <a:ext cx="17654586" cy="43792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88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and 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True if both statements are true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&lt; 5 and  x &lt; 10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True if one of the statements is true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&lt; 5 or x &lt; 4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Reverse the result, returns False if the result is true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not(x &lt; 5 and x &lt; 10)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798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E36000F-5A84-3178-3CBB-974838A6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63DABEDD-6752-A4BC-D5FB-BDB09246385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6546F54-7E71-99DA-5649-84054446E7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1D067CB-81A1-FBC0-556C-CEC50061D6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22C84C2-6902-12AF-1532-1C74D4BB0793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75E70B25-7598-E6C6-0242-11D80D8F3EB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Identity 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FF05AA05-C2A1-6A03-834E-FBA35D3BBC36}"/>
              </a:ext>
            </a:extLst>
          </p:cNvPr>
          <p:cNvSpPr txBox="1"/>
          <p:nvPr/>
        </p:nvSpPr>
        <p:spPr>
          <a:xfrm>
            <a:off x="304800" y="1257300"/>
            <a:ext cx="17654587" cy="141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Identity operators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used to compare the objects, not if they are equal, but if they are the same object, with the same memory location.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7645AEC-332F-2945-7A7C-4BA64460F1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AABA7E-758F-6C29-CE35-C21A4E7A3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277117"/>
              </p:ext>
            </p:extLst>
          </p:nvPr>
        </p:nvGraphicFramePr>
        <p:xfrm>
          <a:off x="304800" y="2705100"/>
          <a:ext cx="17654586" cy="42268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88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 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True if both variables are the same object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is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 not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True if both variables are not the same object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is not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95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59345854-A7C1-BBB5-E16A-AE45FCA6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251D296C-584B-8B20-6282-636AE6E91D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FD5728FD-49DD-85A8-6CC5-93F40C05A0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6E24AA04-F360-62D9-4B72-8908CF11CC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FA514CB-CE42-5F47-2022-4CD0C2BB3824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1469917C-C164-6472-66F8-87D0A5C1F10C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Membership Operators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FD05B1A7-F684-E52D-F104-549188CAD235}"/>
              </a:ext>
            </a:extLst>
          </p:cNvPr>
          <p:cNvSpPr txBox="1"/>
          <p:nvPr/>
        </p:nvSpPr>
        <p:spPr>
          <a:xfrm>
            <a:off x="304800" y="1257300"/>
            <a:ext cx="17654587" cy="70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Membership operators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are used to test if a sequence is presented in an object.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A5A6A6-6B62-2FB8-A18F-DFC711F80D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8F3BCB-7704-C538-66C7-CD1F48733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489872"/>
              </p:ext>
            </p:extLst>
          </p:nvPr>
        </p:nvGraphicFramePr>
        <p:xfrm>
          <a:off x="304800" y="2059640"/>
          <a:ext cx="17654586" cy="42268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88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4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31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Operator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 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True if a sequence with the specified value is present in the object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in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8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 in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True if a sequence with the specified value is not present in the object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4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 not in y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543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6B8970AD-E24B-9AE5-B285-0BD94588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8807D564-C035-10A9-29CF-52F452122A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90388E2-B5CF-B432-A23C-8CA852593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DC6579F-5E8B-E136-A7A2-E520F5D6AF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8DA8838-9162-1EF8-5282-89A548198E4E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98BABE57-38AE-6FC6-28A2-4BBB03D0A1BE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Learning Activity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72ADB3A4-DCD7-E8C7-6430-36BFF9FEAEF4}"/>
              </a:ext>
            </a:extLst>
          </p:cNvPr>
          <p:cNvSpPr txBox="1"/>
          <p:nvPr/>
        </p:nvSpPr>
        <p:spPr>
          <a:xfrm>
            <a:off x="304800" y="1257300"/>
            <a:ext cx="17654587" cy="211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Write a program that calculates the area of a rectangle.</a:t>
            </a:r>
          </a:p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Write a program that calculates the area of a circle.</a:t>
            </a:r>
          </a:p>
          <a:p>
            <a:pPr marL="914400" lvl="1" indent="-457200" algn="just">
              <a:lnSpc>
                <a:spcPts val="55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Write a program that calculate average of five numbers.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12166B-0D5C-B891-7535-318D06BA6B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550578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86B31990-4341-F244-F5A8-CE4C9FC4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7989CFA3-092B-A761-7520-D5B15F0D755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AAE228F-8CD0-BCC1-7A50-E38716D96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DD17CB5C-344A-9317-E3D7-05893FAE08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0364D00-8476-D74E-2FAC-0897ED0E44FE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1B44968B-1B59-D079-50DD-D8209F4E3A8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Comments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EE9C6447-6AB0-8BB0-B2DC-FA012DBEF12A}"/>
              </a:ext>
            </a:extLst>
          </p:cNvPr>
          <p:cNvSpPr txBox="1"/>
          <p:nvPr/>
        </p:nvSpPr>
        <p:spPr>
          <a:xfrm>
            <a:off x="304800" y="1257300"/>
            <a:ext cx="17654587" cy="70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Comments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starts with a #. It’s been used to prevent execution when testing code. </a:t>
            </a:r>
          </a:p>
          <a:p>
            <a:pPr marL="0" lvl="1" algn="just">
              <a:lnSpc>
                <a:spcPts val="55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Tips: To comment out multiple lines of codes, just highlight it and press Ctrl + /</a:t>
            </a:r>
          </a:p>
          <a:p>
            <a:pPr marL="0" lvl="1" algn="just">
              <a:lnSpc>
                <a:spcPts val="55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We can also have triple double quotation marks to comment multiple lines. </a:t>
            </a:r>
          </a:p>
          <a:p>
            <a:pPr marL="0" lvl="1" algn="just">
              <a:lnSpc>
                <a:spcPts val="55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Example:</a:t>
            </a:r>
          </a:p>
          <a:p>
            <a:pPr marL="0" lvl="1"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"""</a:t>
            </a:r>
          </a:p>
          <a:p>
            <a:pPr marL="0" lvl="1"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Line 1</a:t>
            </a:r>
          </a:p>
          <a:p>
            <a:pPr marL="0" lvl="1"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Line 2</a:t>
            </a:r>
          </a:p>
          <a:p>
            <a:pPr marL="0" lvl="1" algn="just">
              <a:lnSpc>
                <a:spcPts val="55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"""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BB35F2A-A62D-D64A-5EEA-7E91EA934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422809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6768511-0E57-E621-9C87-9DF81688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B964F86-4C1D-0268-2636-E0D02895F9C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7C64FBF-2951-16FD-464E-4CAD8E19FA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74EF176-26A1-9E9E-C0D0-C03BE8060B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C979D45-4A2B-651B-7E7C-79AC55831932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3A85D595-1B4E-3758-30D4-A729E7CF6C5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Output Operations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3F75A02E-0EF5-8B2C-6271-03EF04192FAF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display information, results, or messages to the screen, we use the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() function. It can print text, numbers, variables, or even the results of expressions. Multiple values can be printed at once, separated by commas.</a:t>
            </a:r>
          </a:p>
          <a:p>
            <a:pPr marL="0" lvl="1"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1: Printing Text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print("Hello, World!")</a:t>
            </a:r>
          </a:p>
          <a:p>
            <a:pPr marL="0" lvl="1"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2: Printing numbers and results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print(5 + 3)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19420A1-1AFC-40F7-61FB-1A190CBF1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772814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B99DBEA-97CD-9392-2BEA-D4BC86A7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8C2F28F1-7BF4-8230-D760-256D60C8CD3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FCAC949-B86C-BA0C-CEAA-FBFAAEF94A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A759340-C700-BC52-8BF9-D57CF90A87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C746198-6182-40E6-5337-07106CF132D1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A77F5A30-9B37-628C-12D5-894342EF1329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Output Operations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07C522E0-59B6-27C8-7D86-6E89C0D082F1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3: Printing multiple items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"Anna"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age = 21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print("Name:", name, "Age:", age)</a:t>
            </a:r>
          </a:p>
          <a:p>
            <a:pPr marL="0" lvl="1"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4: Using f-string method (formatted print)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"Carlos"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score = 95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f"Student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{name} scored {score} points.")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896DA0A-4AE5-B900-9753-7E48B1BE02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188349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927DDB6-4333-2DD4-7BBC-33A0C918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13EA17A-2236-AF99-0B4A-05EA2F3FFCC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473465EA-EAB0-EE64-1EC9-2B4A944744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6DCFB91A-ADD5-1396-EFBD-23F3529DBA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2EACD51-BE50-6F07-F57F-37732B22CF81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41E55C0-F70D-FDDC-1121-FE3E7821B429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Input Operations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AC66C6F1-1323-99C2-0132-493FFF34BD9D}"/>
              </a:ext>
            </a:extLst>
          </p:cNvPr>
          <p:cNvSpPr txBox="1"/>
          <p:nvPr/>
        </p:nvSpPr>
        <p:spPr>
          <a:xfrm>
            <a:off x="304800" y="1257300"/>
            <a:ext cx="17654587" cy="706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The </a:t>
            </a: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input() function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pauses the program and waits for the user to type something. Whatever the user types is stored as a string (text). We can convert input into other data types (e.g., int, float) when needed.</a:t>
            </a:r>
          </a:p>
          <a:p>
            <a:pPr marL="0" lvl="1"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Default Behavior: 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Input is always treated as a string.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x = input("Enter a number: ")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print(x + x)</a:t>
            </a:r>
          </a:p>
          <a:p>
            <a:pPr marL="0" lvl="1"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If the user types 5, the output is 55 (because it is treated as text, not a number).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21BB90-5889-019F-F77E-2E68851D9E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91945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385191B1-5E72-7C5A-6BDF-2B2CDBA5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80444439-FC26-D028-ACC1-13AEAB0AA1D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9F09C519-9570-D271-0209-D0E80844F6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9060243E-616B-7F67-B96F-95AEA5C8FA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F196AF3F-DAAB-8C7F-ECE7-5B3BC426377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2B83EB43-52C9-2279-34F8-967160E1C767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Input Operations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7F96F6A-B054-AD1F-6F05-75A3D1DE9999}"/>
              </a:ext>
            </a:extLst>
          </p:cNvPr>
          <p:cNvSpPr txBox="1"/>
          <p:nvPr/>
        </p:nvSpPr>
        <p:spPr>
          <a:xfrm>
            <a:off x="304800" y="1257300"/>
            <a:ext cx="17654587" cy="863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1: Basic Input 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name = input("Enter your name: ")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print("Hello,", name)</a:t>
            </a:r>
          </a:p>
          <a:p>
            <a:pPr marL="0" lvl="1"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2: Integer input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age = int(input("Enter your age: "))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print("Next year, you will be", age + 1)</a:t>
            </a:r>
          </a:p>
          <a:p>
            <a:pPr marL="0" lvl="1"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3: float input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pi_guess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= float(input("Enter your guess for pi: "))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print("Your guess is:", </a:t>
            </a:r>
            <a:r>
              <a:rPr lang="en-US" sz="3400" dirty="0" err="1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pi_guess</a:t>
            </a: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)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4FA7D16-F590-8D96-F403-6A301C5E1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4233221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1B10B6F-7F0E-22B1-4D00-48EB87E7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6EB7F20E-1E33-F550-7BCE-9FE0B85D06C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27190B8B-02EF-C936-DF69-10504776CD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772BF8F1-DF6E-52E1-BBCE-29495CD432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466F54C-1B91-72D0-ECF6-BA88C9E51860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281A4950-DE37-FEBF-91D5-B0C161CF5988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Input Operations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96ED4861-C5EA-A011-6DDF-50812B268CA8}"/>
              </a:ext>
            </a:extLst>
          </p:cNvPr>
          <p:cNvSpPr txBox="1"/>
          <p:nvPr/>
        </p:nvSpPr>
        <p:spPr>
          <a:xfrm>
            <a:off x="304800" y="1257300"/>
            <a:ext cx="17654587" cy="392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Example 4: Math problem with input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num1 = int(input("Enter first number: "))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num2 = int(input("Enter second number: "))</a:t>
            </a:r>
          </a:p>
          <a:p>
            <a:pPr marL="0" lvl="1" algn="just">
              <a:lnSpc>
                <a:spcPct val="150000"/>
              </a:lnSpc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print("The sum is:", num1 + num2)</a:t>
            </a:r>
          </a:p>
          <a:p>
            <a:pPr marL="0" lvl="1" algn="just">
              <a:lnSpc>
                <a:spcPct val="150000"/>
              </a:lnSpc>
            </a:pPr>
            <a:endParaRPr lang="en-US" sz="3400" b="1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A37A632-8797-1EFA-7260-F16D18B0EC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2273247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35641D9-4DAD-E999-0DD2-A598CA89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5FC3F7EA-6FF3-9FE8-982A-B4C423F3DDC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9668" y="8420100"/>
            <a:ext cx="1828800" cy="1671354"/>
            <a:chOff x="0" y="0"/>
            <a:chExt cx="10022021" cy="944604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CEF2C3C-1EEC-6223-3C39-4100B18E4E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2A820C2-2D42-9FB9-35D5-594170140E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0D7640E2-69B8-74E1-F8B4-B6AC62ECC91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5E60CD72-F6B4-D71A-13C9-B4EE27047F01}"/>
              </a:ext>
            </a:extLst>
          </p:cNvPr>
          <p:cNvSpPr txBox="1"/>
          <p:nvPr/>
        </p:nvSpPr>
        <p:spPr>
          <a:xfrm>
            <a:off x="592931" y="303364"/>
            <a:ext cx="1710213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500" b="1" dirty="0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Learning Assessment </a:t>
            </a:r>
          </a:p>
        </p:txBody>
      </p:sp>
      <p:sp>
        <p:nvSpPr>
          <p:cNvPr id="7" name="Google Shape;103;p15">
            <a:extLst>
              <a:ext uri="{FF2B5EF4-FFF2-40B4-BE49-F238E27FC236}">
                <a16:creationId xmlns:a16="http://schemas.microsoft.com/office/drawing/2014/main" id="{4B34F7EC-7518-2FFB-390A-A4D34AC9F3DA}"/>
              </a:ext>
            </a:extLst>
          </p:cNvPr>
          <p:cNvSpPr txBox="1"/>
          <p:nvPr/>
        </p:nvSpPr>
        <p:spPr>
          <a:xfrm>
            <a:off x="304800" y="1257300"/>
            <a:ext cx="17654587" cy="863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Write a program that asks the user for their favorite food and prints: "Your favorite food is ___.“</a:t>
            </a:r>
          </a:p>
          <a:p>
            <a:pPr marL="457200" lvl="2"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Write a program that asks the user to enter the length and width of a rectangle. Then compute and display the area and perimeter.</a:t>
            </a:r>
          </a:p>
          <a:p>
            <a:pPr marL="457200" lvl="2"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Write a program that asks for the user’s name, age, and city, then prints a sentence like: "My name is __, I am __ years old, and I live in __."</a:t>
            </a:r>
          </a:p>
          <a:p>
            <a:pPr marL="457200" lvl="2" algn="just">
              <a:lnSpc>
                <a:spcPct val="150000"/>
              </a:lnSpc>
            </a:pPr>
            <a:endParaRPr lang="en-US" sz="3400" dirty="0">
              <a:solidFill>
                <a:srgbClr val="002060"/>
              </a:solidFill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rgbClr val="002060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Create a program that asks the user to input three grades (float). Compute and display the average grade.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A34019F-8CD4-C919-8676-D20059BDDE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5163800" y="9925661"/>
            <a:ext cx="3124200" cy="357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Elective 4 (Special Topics on Web and Mobile 2)</a:t>
            </a:r>
          </a:p>
        </p:txBody>
      </p:sp>
    </p:spTree>
    <p:extLst>
      <p:ext uri="{BB962C8B-B14F-4D97-AF65-F5344CB8AC3E}">
        <p14:creationId xmlns:p14="http://schemas.microsoft.com/office/powerpoint/2010/main" val="162768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05661D4E0C80409E0670B4A251F545" ma:contentTypeVersion="7" ma:contentTypeDescription="Create a new document." ma:contentTypeScope="" ma:versionID="724ba54ef5b52264e49916644082e7e0">
  <xsd:schema xmlns:xsd="http://www.w3.org/2001/XMLSchema" xmlns:xs="http://www.w3.org/2001/XMLSchema" xmlns:p="http://schemas.microsoft.com/office/2006/metadata/properties" xmlns:ns2="51223dca-c295-4754-958e-39a8bc32c9a8" targetNamespace="http://schemas.microsoft.com/office/2006/metadata/properties" ma:root="true" ma:fieldsID="1066a1b2f7b9c1c8290496c73b48af36" ns2:_="">
    <xsd:import namespace="51223dca-c295-4754-958e-39a8bc32c9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223dca-c295-4754-958e-39a8bc32c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F7911D-D56F-441F-8121-10A7693D3255}"/>
</file>

<file path=customXml/itemProps2.xml><?xml version="1.0" encoding="utf-8"?>
<ds:datastoreItem xmlns:ds="http://schemas.openxmlformats.org/officeDocument/2006/customXml" ds:itemID="{BAAD8C3B-0620-4532-8961-946025172FEF}"/>
</file>

<file path=customXml/itemProps3.xml><?xml version="1.0" encoding="utf-8"?>
<ds:datastoreItem xmlns:ds="http://schemas.openxmlformats.org/officeDocument/2006/customXml" ds:itemID="{6CB77712-4D74-4D2A-93F3-F8A3302686FE}"/>
</file>

<file path=docProps/app.xml><?xml version="1.0" encoding="utf-8"?>
<Properties xmlns="http://schemas.openxmlformats.org/officeDocument/2006/extended-properties" xmlns:vt="http://schemas.openxmlformats.org/officeDocument/2006/docPropsVTypes">
  <TotalTime>15313</TotalTime>
  <Words>1752</Words>
  <Application>Microsoft Office PowerPoint</Application>
  <PresentationFormat>Custom</PresentationFormat>
  <Paragraphs>269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Calibri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Mark Denver Adora</dc:creator>
  <cp:lastModifiedBy>Mark Denver Adora</cp:lastModifiedBy>
  <cp:revision>812</cp:revision>
  <dcterms:created xsi:type="dcterms:W3CDTF">2006-08-16T00:00:00Z</dcterms:created>
  <dcterms:modified xsi:type="dcterms:W3CDTF">2026-08-19T02:01:56Z</dcterms:modified>
  <dc:identifier>DAGH1tVytZk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0x0101007505661D4E0C80409E0670B4A251F545</vt:lpwstr>
  </property>
</Properties>
</file>