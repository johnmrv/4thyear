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30"/>
  </p:notesMasterIdLst>
  <p:handoutMasterIdLst>
    <p:handoutMasterId r:id="rId31"/>
  </p:handoutMasterIdLst>
  <p:sldIdLst>
    <p:sldId id="256"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Lst>
  <p:sldSz cx="18288000" cy="10287000"/>
  <p:notesSz cx="6858000" cy="9144000"/>
  <p:embeddedFontLst>
    <p:embeddedFont>
      <p:font typeface="Poppins" panose="00000500000000000000" pitchFamily="2" charset="0"/>
      <p:regular r:id="rId32"/>
      <p:bold r:id="rId33"/>
      <p:italic r:id="rId34"/>
      <p:boldItalic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CF8"/>
    <a:srgbClr val="FDF7C6"/>
    <a:srgbClr val="D1D1D1"/>
    <a:srgbClr val="4D4D4D"/>
    <a:srgbClr val="33FB63"/>
    <a:srgbClr val="F49210"/>
    <a:srgbClr val="2A2A43"/>
    <a:srgbClr val="F1FEA0"/>
    <a:srgbClr val="FF99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77" autoAdjust="0"/>
    <p:restoredTop sz="87582" autoAdjust="0"/>
  </p:normalViewPr>
  <p:slideViewPr>
    <p:cSldViewPr>
      <p:cViewPr varScale="1">
        <p:scale>
          <a:sx n="46" d="100"/>
          <a:sy n="46" d="100"/>
        </p:scale>
        <p:origin x="734" y="48"/>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E22CC0-1243-338F-5CAD-E7A5B1EE0E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F84A8E39-795D-D837-9A04-090F9A1419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55907F-8ED1-4449-8AB2-425B109C6DAB}" type="datetimeFigureOut">
              <a:rPr lang="en-PH" smtClean="0"/>
              <a:t>25/08/2026</a:t>
            </a:fld>
            <a:endParaRPr lang="en-PH"/>
          </a:p>
        </p:txBody>
      </p:sp>
      <p:sp>
        <p:nvSpPr>
          <p:cNvPr id="4" name="Footer Placeholder 3">
            <a:extLst>
              <a:ext uri="{FF2B5EF4-FFF2-40B4-BE49-F238E27FC236}">
                <a16:creationId xmlns:a16="http://schemas.microsoft.com/office/drawing/2014/main" id="{0B1079AC-EB4A-C6F4-35A4-C5166122BE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323FEE0C-CAF7-534F-B1B6-7CB0184B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C40E73-B33C-482E-B21A-1E3DE061AD46}" type="slidenum">
              <a:rPr lang="en-PH" smtClean="0"/>
              <a:t>‹#›</a:t>
            </a:fld>
            <a:endParaRPr lang="en-PH"/>
          </a:p>
        </p:txBody>
      </p:sp>
    </p:spTree>
    <p:extLst>
      <p:ext uri="{BB962C8B-B14F-4D97-AF65-F5344CB8AC3E}">
        <p14:creationId xmlns:p14="http://schemas.microsoft.com/office/powerpoint/2010/main" val="9482812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21506-B2BE-43BC-8C27-BC2C4DAF9131}" type="datetimeFigureOut">
              <a:rPr lang="en-PH" smtClean="0"/>
              <a:t>25/08/2026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E38AF-BC93-4612-8619-54F4BB1E39A6}" type="slidenum">
              <a:rPr lang="en-PH" smtClean="0"/>
              <a:t>‹#›</a:t>
            </a:fld>
            <a:endParaRPr lang="en-PH"/>
          </a:p>
        </p:txBody>
      </p:sp>
    </p:spTree>
    <p:extLst>
      <p:ext uri="{BB962C8B-B14F-4D97-AF65-F5344CB8AC3E}">
        <p14:creationId xmlns:p14="http://schemas.microsoft.com/office/powerpoint/2010/main" val="8546646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H"/>
          </a:p>
        </p:txBody>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E27E38AF-BC93-4612-8619-54F4BB1E39A6}" type="slidenum">
              <a:rPr lang="en-PH" smtClean="0"/>
              <a:t>1</a:t>
            </a:fld>
            <a:endParaRPr lang="en-PH"/>
          </a:p>
        </p:txBody>
      </p:sp>
    </p:spTree>
    <p:extLst>
      <p:ext uri="{BB962C8B-B14F-4D97-AF65-F5344CB8AC3E}">
        <p14:creationId xmlns:p14="http://schemas.microsoft.com/office/powerpoint/2010/main" val="144110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687CDD1A-F4AB-EDD6-A8DC-F353C71F4129}"/>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398450CE-33EF-802F-EB92-1AA093AF01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F7772F4F-C92E-BC87-8C02-BD9C3E7619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3555370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E525C1FE-C93C-E81A-AD2A-8189F0A4548C}"/>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862C4BD0-A394-C33A-C74A-C337E0CEE8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33701E31-3B18-4329-8BFB-7E70EFD29C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549111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A00E4BD8-894A-9B99-3BE2-4C3D8645DB9A}"/>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72F9CB6C-F432-9CA2-AD88-D78F93DB02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A5F404B5-65B2-C9D7-8829-1C92A58BC9F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3560093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202E8FB7-F1EC-8694-83EE-EE03C58C7731}"/>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96065BEC-233E-C909-F45B-E84DFB04DA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69317895-6757-CC54-7502-72916F9E8B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069524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4AD6F7E2-100B-870B-3652-D14A445DBD4A}"/>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F529334D-926C-9147-E860-D65B022B87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BD0408BD-B504-BF3D-6D3B-E008301D52A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190749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00777E-C790-6111-1584-5FCABBA2E597}"/>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74924B95-C587-AC74-797A-1DADDB743B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PH" b="1" dirty="0"/>
              <a:t>3. Automation and Scripting</a:t>
            </a:r>
          </a:p>
          <a:p>
            <a:r>
              <a:rPr lang="en-PH" b="1" dirty="0"/>
              <a:t>Automation</a:t>
            </a:r>
            <a:r>
              <a:rPr lang="en-PH" dirty="0"/>
              <a:t> means using a program to perform tasks automatically instead of doing them manually. Python is very good for this because its syntax is simple and it has many built-in libraries for working with files, folders, the internet, and other applications.</a:t>
            </a:r>
          </a:p>
          <a:p>
            <a:r>
              <a:rPr lang="en-PH" dirty="0"/>
              <a:t>For example, imagine you have </a:t>
            </a:r>
            <a:r>
              <a:rPr lang="en-PH" b="1" dirty="0"/>
              <a:t>500 files</a:t>
            </a:r>
            <a:r>
              <a:rPr lang="en-PH" dirty="0"/>
              <a:t> in a folder and you need to rename them one by one. Instead of manually renaming all 500 files, you can write a Python script that does it automatically.</a:t>
            </a:r>
          </a:p>
          <a:p>
            <a:r>
              <a:rPr lang="en-PH" dirty="0"/>
              <a:t>Python can be used for:</a:t>
            </a:r>
          </a:p>
          <a:p>
            <a:pPr lvl="0"/>
            <a:r>
              <a:rPr lang="en-PH" b="1" dirty="0"/>
              <a:t>File operations</a:t>
            </a:r>
            <a:r>
              <a:rPr lang="en-PH" dirty="0"/>
              <a:t> – creating, reading, copying, moving, and deleting files </a:t>
            </a:r>
          </a:p>
          <a:p>
            <a:pPr lvl="0"/>
            <a:r>
              <a:rPr lang="en-PH" b="1" dirty="0"/>
              <a:t>File renaming</a:t>
            </a:r>
            <a:r>
              <a:rPr lang="en-PH" dirty="0"/>
              <a:t> – automatically changing the names of hundreds of files </a:t>
            </a:r>
          </a:p>
          <a:p>
            <a:pPr lvl="0"/>
            <a:r>
              <a:rPr lang="en-PH" b="1" dirty="0"/>
              <a:t>Sending emails</a:t>
            </a:r>
            <a:r>
              <a:rPr lang="en-PH" dirty="0"/>
              <a:t> – automatically sending reports or notifications </a:t>
            </a:r>
          </a:p>
          <a:p>
            <a:pPr lvl="0"/>
            <a:r>
              <a:rPr lang="en-PH" b="1" dirty="0"/>
              <a:t>Data processing</a:t>
            </a:r>
            <a:r>
              <a:rPr lang="en-PH" dirty="0"/>
              <a:t> – automatically processing large amounts of data </a:t>
            </a:r>
          </a:p>
          <a:p>
            <a:pPr lvl="0"/>
            <a:r>
              <a:rPr lang="en-PH" b="1" dirty="0"/>
              <a:t>Web scraping</a:t>
            </a:r>
            <a:r>
              <a:rPr lang="en-PH" dirty="0"/>
              <a:t> – collecting information from websites </a:t>
            </a:r>
          </a:p>
          <a:p>
            <a:pPr lvl="0"/>
            <a:r>
              <a:rPr lang="en-PH" b="1" dirty="0"/>
              <a:t>Backup tasks</a:t>
            </a:r>
            <a:r>
              <a:rPr lang="en-PH" dirty="0"/>
              <a:t> – automatically copying important files to another location </a:t>
            </a:r>
          </a:p>
          <a:p>
            <a:pPr lvl="0"/>
            <a:r>
              <a:rPr lang="en-PH" b="1" dirty="0"/>
              <a:t>Report generation</a:t>
            </a:r>
            <a:r>
              <a:rPr lang="en-PH" dirty="0"/>
              <a:t> – creating reports on a regular schedule </a:t>
            </a:r>
          </a:p>
          <a:p>
            <a:r>
              <a:rPr lang="en-PH" b="1" dirty="0"/>
              <a:t>Example:</a:t>
            </a:r>
            <a:br>
              <a:rPr lang="en-PH" dirty="0"/>
            </a:br>
            <a:r>
              <a:rPr lang="en-PH" dirty="0"/>
              <a:t>A school could use Python to automatically generate and email a weekly attendance report to teachers.</a:t>
            </a:r>
          </a:p>
          <a:p>
            <a:r>
              <a:rPr lang="en-PH" dirty="0"/>
              <a:t>So, </a:t>
            </a:r>
            <a:r>
              <a:rPr lang="en-PH" b="1" dirty="0"/>
              <a:t>Python scripting helps save time and reduces repetitive manual work.</a:t>
            </a:r>
            <a:endParaRPr lang="en-PH" dirty="0"/>
          </a:p>
          <a:p>
            <a:br>
              <a:rPr lang="en-PH" dirty="0"/>
            </a:br>
            <a:endParaRPr lang="en-PH" dirty="0"/>
          </a:p>
          <a:p>
            <a:r>
              <a:rPr lang="en-PH" b="1" dirty="0"/>
              <a:t>4. Software Testing and Prototyping</a:t>
            </a:r>
          </a:p>
          <a:p>
            <a:r>
              <a:rPr lang="en-PH" dirty="0"/>
              <a:t>Python is also widely used in </a:t>
            </a:r>
            <a:r>
              <a:rPr lang="en-PH" b="1" dirty="0"/>
              <a:t>software testing</a:t>
            </a:r>
            <a:r>
              <a:rPr lang="en-PH" dirty="0"/>
              <a:t>. Testing is the process of checking whether a program works correctly and produces the expected results.</a:t>
            </a:r>
          </a:p>
          <a:p>
            <a:r>
              <a:rPr lang="en-PH" dirty="0"/>
              <a:t>Developers can use Python to create </a:t>
            </a:r>
            <a:r>
              <a:rPr lang="en-PH" b="1" dirty="0"/>
              <a:t>test cases</a:t>
            </a:r>
            <a:r>
              <a:rPr lang="en-PH" dirty="0"/>
              <a:t> that automatically check different parts of a software application.</a:t>
            </a:r>
          </a:p>
          <a:p>
            <a:r>
              <a:rPr lang="en-PH" dirty="0"/>
              <a:t>For example, suppose you have a login system. A Python test can check:</a:t>
            </a:r>
          </a:p>
          <a:p>
            <a:pPr lvl="0"/>
            <a:r>
              <a:rPr lang="en-PH" dirty="0"/>
              <a:t>Can a user log in using the correct username and password? </a:t>
            </a:r>
          </a:p>
          <a:p>
            <a:pPr lvl="0"/>
            <a:r>
              <a:rPr lang="en-PH" dirty="0"/>
              <a:t>Is login rejected when the password is incorrect? </a:t>
            </a:r>
          </a:p>
          <a:p>
            <a:pPr lvl="0"/>
            <a:r>
              <a:rPr lang="en-PH" dirty="0"/>
              <a:t>What happens when the username is empty? </a:t>
            </a:r>
          </a:p>
          <a:p>
            <a:pPr lvl="0"/>
            <a:r>
              <a:rPr lang="en-PH" dirty="0"/>
              <a:t>Does the system properly handle invalid input? </a:t>
            </a:r>
          </a:p>
          <a:p>
            <a:r>
              <a:rPr lang="en-PH" dirty="0"/>
              <a:t>Instead of manually testing these situations every time the software is changed, Python can perform the tests automatically.</a:t>
            </a:r>
          </a:p>
          <a:p>
            <a:r>
              <a:rPr lang="en-PH" dirty="0"/>
              <a:t>Python is also useful for </a:t>
            </a:r>
            <a:r>
              <a:rPr lang="en-PH" b="1" dirty="0"/>
              <a:t>prototyping</a:t>
            </a:r>
            <a:r>
              <a:rPr lang="en-PH" dirty="0"/>
              <a:t>. A prototype is an early or simplified version of an application used to test an idea before developing the complete system.</a:t>
            </a:r>
          </a:p>
          <a:p>
            <a:r>
              <a:rPr lang="en-PH" dirty="0"/>
              <a:t>For example, if a developer wants to create a </a:t>
            </a:r>
            <a:r>
              <a:rPr lang="en-PH" b="1" dirty="0"/>
              <a:t>student enrollment system</a:t>
            </a:r>
            <a:r>
              <a:rPr lang="en-PH" dirty="0"/>
              <a:t>, they can first use Python to quickly create a basic version to test:</a:t>
            </a:r>
          </a:p>
          <a:p>
            <a:pPr lvl="0"/>
            <a:r>
              <a:rPr lang="en-PH" dirty="0"/>
              <a:t>How students will enter their information </a:t>
            </a:r>
          </a:p>
          <a:p>
            <a:pPr lvl="0"/>
            <a:r>
              <a:rPr lang="en-PH" dirty="0"/>
              <a:t>How subjects will be selected </a:t>
            </a:r>
          </a:p>
          <a:p>
            <a:pPr lvl="0"/>
            <a:r>
              <a:rPr lang="en-PH" dirty="0"/>
              <a:t>How enrollment records will be stored </a:t>
            </a:r>
          </a:p>
          <a:p>
            <a:pPr lvl="0"/>
            <a:r>
              <a:rPr lang="en-PH" dirty="0"/>
              <a:t>How the system will display results </a:t>
            </a:r>
          </a:p>
          <a:p>
            <a:r>
              <a:rPr lang="en-PH" dirty="0"/>
              <a:t>Once the prototype works, the developer can improve it and build the complete application.</a:t>
            </a:r>
          </a:p>
          <a:p>
            <a:r>
              <a:rPr lang="en-PH" b="1" dirty="0"/>
              <a:t>In short:</a:t>
            </a:r>
            <a:r>
              <a:rPr lang="en-PH" dirty="0"/>
              <a:t> Python helps developers </a:t>
            </a:r>
            <a:r>
              <a:rPr lang="en-PH" b="1" dirty="0"/>
              <a:t>test software efficiently and quickly turn ideas into working prototypes.</a:t>
            </a:r>
            <a:endParaRPr lang="en-PH" dirty="0"/>
          </a:p>
          <a:p>
            <a:br>
              <a:rPr lang="en-PH" dirty="0"/>
            </a:br>
            <a:endParaRPr lang="en-PH" dirty="0"/>
          </a:p>
          <a:p>
            <a:r>
              <a:rPr lang="en-PH" b="1" dirty="0"/>
              <a:t>5. IoT, Robotics, Game Development, and Cybersecurity</a:t>
            </a:r>
          </a:p>
          <a:p>
            <a:r>
              <a:rPr lang="en-PH" dirty="0"/>
              <a:t>Python is not limited to traditional software applications. It is also used in several </a:t>
            </a:r>
            <a:r>
              <a:rPr lang="en-PH" b="1" dirty="0"/>
              <a:t>technical and emerging fields</a:t>
            </a:r>
            <a:r>
              <a:rPr lang="en-PH" dirty="0"/>
              <a:t>.</a:t>
            </a:r>
          </a:p>
          <a:p>
            <a:r>
              <a:rPr lang="en-PH" b="1" dirty="0"/>
              <a:t>Internet of Things (IoT)</a:t>
            </a:r>
          </a:p>
          <a:p>
            <a:r>
              <a:rPr lang="en-PH" b="1" dirty="0"/>
              <a:t>IoT</a:t>
            </a:r>
            <a:r>
              <a:rPr lang="en-PH" dirty="0"/>
              <a:t>, or Internet of Things, refers to physical devices that can collect, process, and exchange data through a network.</a:t>
            </a:r>
          </a:p>
          <a:p>
            <a:r>
              <a:rPr lang="en-PH" dirty="0"/>
              <a:t>Python can be used to communicate with sensors and control electronic devices.</a:t>
            </a:r>
          </a:p>
          <a:p>
            <a:r>
              <a:rPr lang="en-PH" dirty="0"/>
              <a:t>For example, a </a:t>
            </a:r>
            <a:r>
              <a:rPr lang="en-PH" b="1" dirty="0"/>
              <a:t>Raspberry Pi</a:t>
            </a:r>
            <a:r>
              <a:rPr lang="en-PH" dirty="0"/>
              <a:t> can run Python programs and be connected to:</a:t>
            </a:r>
          </a:p>
          <a:p>
            <a:pPr lvl="0"/>
            <a:r>
              <a:rPr lang="en-PH" dirty="0"/>
              <a:t>Temperature sensors </a:t>
            </a:r>
          </a:p>
          <a:p>
            <a:pPr lvl="0"/>
            <a:r>
              <a:rPr lang="en-PH" dirty="0"/>
              <a:t>Motion sensors </a:t>
            </a:r>
          </a:p>
          <a:p>
            <a:pPr lvl="0"/>
            <a:r>
              <a:rPr lang="en-PH" dirty="0"/>
              <a:t>Cameras </a:t>
            </a:r>
          </a:p>
          <a:p>
            <a:pPr lvl="0"/>
            <a:r>
              <a:rPr lang="en-PH" dirty="0"/>
              <a:t>LEDs </a:t>
            </a:r>
          </a:p>
          <a:p>
            <a:pPr lvl="0"/>
            <a:r>
              <a:rPr lang="en-PH" dirty="0"/>
              <a:t>Motors </a:t>
            </a:r>
          </a:p>
          <a:p>
            <a:pPr lvl="0"/>
            <a:r>
              <a:rPr lang="en-PH" dirty="0"/>
              <a:t>Relays </a:t>
            </a:r>
          </a:p>
          <a:p>
            <a:pPr lvl="0"/>
            <a:r>
              <a:rPr lang="en-PH" dirty="0"/>
              <a:t>Other electronic devices </a:t>
            </a:r>
          </a:p>
          <a:p>
            <a:r>
              <a:rPr lang="en-PH" dirty="0"/>
              <a:t>A Python program could read the temperature from a sensor and automatically turn on a fan when the temperature becomes too high.</a:t>
            </a:r>
          </a:p>
          <a:p>
            <a:r>
              <a:rPr lang="en-PH" b="1" dirty="0"/>
              <a:t>Example:</a:t>
            </a:r>
            <a:endParaRPr lang="en-PH" dirty="0"/>
          </a:p>
          <a:p>
            <a:r>
              <a:rPr lang="en-PH" dirty="0"/>
              <a:t>Temperature sensor → Raspberry Pi → Python program → Fan turns ON</a:t>
            </a:r>
          </a:p>
          <a:p>
            <a:r>
              <a:rPr lang="en-PH" dirty="0"/>
              <a:t>This makes Python useful for creating </a:t>
            </a:r>
            <a:r>
              <a:rPr lang="en-PH" b="1" dirty="0"/>
              <a:t>smart devices and IoT systems</a:t>
            </a:r>
            <a:r>
              <a:rPr lang="en-PH" dirty="0"/>
              <a:t>.</a:t>
            </a:r>
          </a:p>
          <a:p>
            <a:r>
              <a:rPr lang="en-PH" b="1" dirty="0"/>
              <a:t>Robotics</a:t>
            </a:r>
          </a:p>
          <a:p>
            <a:r>
              <a:rPr lang="en-PH" dirty="0"/>
              <a:t>Python can also be used in robotics to control and communicate with robotic components.</a:t>
            </a:r>
          </a:p>
          <a:p>
            <a:r>
              <a:rPr lang="en-PH" dirty="0"/>
              <a:t>For example, a Python program can be used to:</a:t>
            </a:r>
          </a:p>
          <a:p>
            <a:pPr lvl="0"/>
            <a:r>
              <a:rPr lang="en-PH" dirty="0"/>
              <a:t>Read sensor information </a:t>
            </a:r>
          </a:p>
          <a:p>
            <a:pPr lvl="0"/>
            <a:r>
              <a:rPr lang="en-PH" dirty="0"/>
              <a:t>Control motors </a:t>
            </a:r>
          </a:p>
          <a:p>
            <a:pPr lvl="0"/>
            <a:r>
              <a:rPr lang="en-PH" dirty="0"/>
              <a:t>Process camera images </a:t>
            </a:r>
          </a:p>
          <a:p>
            <a:pPr lvl="0"/>
            <a:r>
              <a:rPr lang="en-PH" dirty="0"/>
              <a:t>Make decisions based on sensor data </a:t>
            </a:r>
          </a:p>
          <a:p>
            <a:pPr lvl="0"/>
            <a:r>
              <a:rPr lang="en-PH" dirty="0"/>
              <a:t>Control the movement of a robot </a:t>
            </a:r>
          </a:p>
          <a:p>
            <a:r>
              <a:rPr lang="en-PH" b="1" dirty="0"/>
              <a:t>Game Development</a:t>
            </a:r>
          </a:p>
          <a:p>
            <a:r>
              <a:rPr lang="en-PH" dirty="0"/>
              <a:t>Python can also be used to create games. Libraries such as </a:t>
            </a:r>
            <a:r>
              <a:rPr lang="en-PH" b="1" dirty="0" err="1"/>
              <a:t>Pygame</a:t>
            </a:r>
            <a:r>
              <a:rPr lang="en-PH" dirty="0"/>
              <a:t> provide tools for creating:</a:t>
            </a:r>
          </a:p>
          <a:p>
            <a:pPr lvl="0"/>
            <a:r>
              <a:rPr lang="en-PH" dirty="0"/>
              <a:t>Characters </a:t>
            </a:r>
          </a:p>
          <a:p>
            <a:pPr lvl="0"/>
            <a:r>
              <a:rPr lang="en-PH" dirty="0"/>
              <a:t>Game controls </a:t>
            </a:r>
          </a:p>
          <a:p>
            <a:pPr lvl="0"/>
            <a:r>
              <a:rPr lang="en-PH" dirty="0"/>
              <a:t>Sound effects </a:t>
            </a:r>
          </a:p>
          <a:p>
            <a:pPr lvl="0"/>
            <a:r>
              <a:rPr lang="en-PH" dirty="0"/>
              <a:t>Animations </a:t>
            </a:r>
          </a:p>
          <a:p>
            <a:pPr lvl="0"/>
            <a:r>
              <a:rPr lang="en-PH" dirty="0"/>
              <a:t>Collision detection </a:t>
            </a:r>
          </a:p>
          <a:p>
            <a:pPr lvl="0"/>
            <a:r>
              <a:rPr lang="en-PH" dirty="0"/>
              <a:t>Game levels </a:t>
            </a:r>
          </a:p>
          <a:p>
            <a:r>
              <a:rPr lang="en-PH" dirty="0"/>
              <a:t>Python may not be the dominant language for large commercial games, but it is excellent for </a:t>
            </a:r>
            <a:r>
              <a:rPr lang="en-PH" b="1" dirty="0"/>
              <a:t>learning game development and creating smaller games and prototypes</a:t>
            </a:r>
            <a:r>
              <a:rPr lang="en-PH" dirty="0"/>
              <a:t>.</a:t>
            </a:r>
          </a:p>
          <a:p>
            <a:r>
              <a:rPr lang="en-PH" b="1" dirty="0"/>
              <a:t>Cybersecurity</a:t>
            </a:r>
          </a:p>
          <a:p>
            <a:r>
              <a:rPr lang="en-PH" dirty="0"/>
              <a:t>Python is also commonly used in cybersecurity because it can automate tasks and process large amounts of information.</a:t>
            </a:r>
          </a:p>
          <a:p>
            <a:r>
              <a:rPr lang="en-PH" dirty="0"/>
              <a:t>For example, Python can be used for:</a:t>
            </a:r>
          </a:p>
          <a:p>
            <a:pPr lvl="0"/>
            <a:r>
              <a:rPr lang="en-PH" dirty="0"/>
              <a:t>Log analysis </a:t>
            </a:r>
          </a:p>
          <a:p>
            <a:pPr lvl="0"/>
            <a:r>
              <a:rPr lang="en-PH" dirty="0"/>
              <a:t>Security testing </a:t>
            </a:r>
          </a:p>
          <a:p>
            <a:pPr lvl="0"/>
            <a:r>
              <a:rPr lang="en-PH" dirty="0"/>
              <a:t>Network monitoring </a:t>
            </a:r>
          </a:p>
          <a:p>
            <a:pPr lvl="0"/>
            <a:r>
              <a:rPr lang="en-PH" dirty="0"/>
              <a:t>Automating security tasks </a:t>
            </a:r>
          </a:p>
          <a:p>
            <a:pPr lvl="0"/>
            <a:r>
              <a:rPr lang="en-PH" dirty="0"/>
              <a:t>Processing security data </a:t>
            </a:r>
          </a:p>
          <a:p>
            <a:pPr lvl="0"/>
            <a:r>
              <a:rPr lang="en-PH" dirty="0"/>
              <a:t>Developing defensive security tools</a:t>
            </a:r>
          </a:p>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9BE33F3E-A832-5BF8-FEEF-7813DCBBD3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4258924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24547AC-300E-14DD-9B53-45F8E3AC5FDD}"/>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56F58D06-DCB5-2C45-426F-E9FFCF602D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88BADCA1-D2F7-4EE5-2A63-8B980E4FDB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3222117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DEF02359-C08A-5373-BB0E-A444C6A2123D}"/>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2D0103ED-FE02-FD9C-A79B-C40362E24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2BBF2192-8D8B-B14D-B69F-FBD75EE899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411117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2F5EEF0-8BAB-1F70-389D-20C1B306D6A5}"/>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9B3761BA-5991-5C71-8EFE-4B64BD73A2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B98A0590-23C7-E000-2598-871968F42BB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2885028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AE0F4092-F346-6200-8C6B-BCBE8B8E5E38}"/>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2CE18CCB-CE5D-0CBF-7680-E9B91609F37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835D4BAE-9E5E-C87F-C4F2-359D103BA53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67997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BA7DACAD-FB98-BA7C-97E8-91C357873E96}"/>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7C51E486-227D-23E6-3C66-CFE9C96260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306DFE57-02B2-0E1F-31E8-D9447A4BA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32839446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D7E929CF-C302-D782-ECE2-5E73445B3164}"/>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6855C2DB-2929-8B96-BB63-9D356DAC45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EF6A64EE-DDD9-32D7-E233-515BC65D31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9327813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98080632-D20D-FCED-15EC-3A5C745F585E}"/>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62D2F948-C8E3-50A2-E38C-7067A47E89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2C2DBC53-D146-2209-0D17-63377B24C9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1367451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FE29162F-29B0-0C1A-7A91-239DEA80F213}"/>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7538F2D3-58F4-594C-1A96-4E06C75B85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F84B72A1-CF2B-DA81-D565-456778F831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36221842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2E7E4FAA-3098-1FFB-B228-B8D2F4FBEC41}"/>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E4F8A5AE-1AAA-63FB-E88F-98C11B5549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0F6F4209-0A1B-9A56-16B5-7E7EF1CD03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8002207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07B8F041-DC31-2F3D-2C83-7A0AAEE207E9}"/>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EE0D58DB-A025-D722-8539-F1E3C5F444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119505D5-CD18-1202-2409-29D833B9A8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527547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8D46E345-6D37-9DED-F9C9-D84975E0A419}"/>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C7CF80A7-EA4F-767F-52C9-6D2DFB7E100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D0207200-7E19-7C2B-48EF-193B899F4E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429551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405C9960-9D81-D16F-25A7-0A61A28A992F}"/>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BB7C99F5-9A1B-8AF3-5584-7EDBB2828F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52C4E01B-BD8D-0BFD-C7DA-C920994592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238756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A5A86944-BB95-6313-9902-61A2339ADECD}"/>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3775E5A9-675C-FEFD-02A3-152719D235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A5170538-31CC-CAC0-D8EA-855E4A53D2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8405874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DF41533B-7072-BCE5-6087-26B4E804EFD1}"/>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B1436BF7-A841-7F48-3964-9B0E969DFC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1B41293E-4BA4-C5BD-9E75-9CA6FB79F1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40637508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02A646F1-9A37-C144-728D-712570BD51EB}"/>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58567AE0-0C04-C421-7953-947BA3E31DE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58A552DC-86C5-67BC-1DA4-CDFF2853A2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7958571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AE655ACE-9D56-9CE5-C3A7-9B789EB26EE0}"/>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0197A4F3-4E29-EA34-516E-8A19C46B15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5DAAD727-151A-CD3E-D2AF-DE59340EFF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13992557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1880B4F2-C356-EA9F-07D3-A08CCE27A5E7}"/>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964F5CDB-41C6-ED4F-C0D8-ECB5F2A41C0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1ACBB79E-5FF0-1F1B-C385-753D398F8A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108748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A0ECD414-9766-277F-A01C-76CDAC7EA1A0}"/>
            </a:ext>
          </a:extLst>
        </p:cNvPr>
        <p:cNvGrpSpPr/>
        <p:nvPr/>
      </p:nvGrpSpPr>
      <p:grpSpPr>
        <a:xfrm>
          <a:off x="0" y="0"/>
          <a:ext cx="0" cy="0"/>
          <a:chOff x="0" y="0"/>
          <a:chExt cx="0" cy="0"/>
        </a:xfrm>
      </p:grpSpPr>
      <p:sp>
        <p:nvSpPr>
          <p:cNvPr id="97" name="Google Shape;97;p3:notes">
            <a:extLst>
              <a:ext uri="{FF2B5EF4-FFF2-40B4-BE49-F238E27FC236}">
                <a16:creationId xmlns:a16="http://schemas.microsoft.com/office/drawing/2014/main" id="{9BA7344E-07B1-C219-C1BA-8DAE1AC502D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8" name="Google Shape;98;p3:notes">
            <a:extLst>
              <a:ext uri="{FF2B5EF4-FFF2-40B4-BE49-F238E27FC236}">
                <a16:creationId xmlns:a16="http://schemas.microsoft.com/office/drawing/2014/main" id="{35507535-0C85-F8F8-E49E-C2FBC94A891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PH"/>
          </a:p>
        </p:txBody>
      </p:sp>
    </p:spTree>
    <p:extLst>
      <p:ext uri="{BB962C8B-B14F-4D97-AF65-F5344CB8AC3E}">
        <p14:creationId xmlns:p14="http://schemas.microsoft.com/office/powerpoint/2010/main" val="2327313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Google Shape;112;p15">
            <a:extLst>
              <a:ext uri="{FF2B5EF4-FFF2-40B4-BE49-F238E27FC236}">
                <a16:creationId xmlns:a16="http://schemas.microsoft.com/office/drawing/2014/main" id="{B4FD9F47-32EA-0B40-60C9-C26413111F30}"/>
              </a:ext>
            </a:extLst>
          </p:cNvPr>
          <p:cNvSpPr/>
          <p:nvPr userDrawn="1"/>
        </p:nvSpPr>
        <p:spPr>
          <a:xfrm>
            <a:off x="309562" y="200025"/>
            <a:ext cx="142875" cy="857250"/>
          </a:xfrm>
          <a:prstGeom prst="rect">
            <a:avLst/>
          </a:prstGeom>
          <a:solidFill>
            <a:srgbClr val="00A3E0"/>
          </a:solidFill>
          <a:ln>
            <a:noFill/>
          </a:ln>
        </p:spPr>
        <p:txBody>
          <a:bodyPr spcFirstLastPara="1" wrap="square" lIns="137138" tIns="68550" rIns="137138" bIns="68550" anchor="ctr" anchorCtr="0">
            <a:noAutofit/>
          </a:bodyPr>
          <a:lstStyle/>
          <a:p>
            <a:pPr algn="ctr"/>
            <a:endParaRPr sz="2700">
              <a:solidFill>
                <a:schemeClr val="dk1"/>
              </a:solidFill>
              <a:latin typeface="Calibri"/>
              <a:ea typeface="Calibri"/>
              <a:cs typeface="Calibri"/>
              <a:sym typeface="Calibri"/>
            </a:endParaRPr>
          </a:p>
        </p:txBody>
      </p:sp>
      <p:sp>
        <p:nvSpPr>
          <p:cNvPr id="3" name="Slide Number Placeholder 5">
            <a:extLst>
              <a:ext uri="{FF2B5EF4-FFF2-40B4-BE49-F238E27FC236}">
                <a16:creationId xmlns:a16="http://schemas.microsoft.com/office/drawing/2014/main" id="{8E6610E3-5063-29E1-70B4-1D32CFB5ED2C}"/>
              </a:ext>
            </a:extLst>
          </p:cNvPr>
          <p:cNvSpPr>
            <a:spLocks noGrp="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C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D81C3-E2DA-4793-BDA0-1375955C19F0}" type="datetime1">
              <a:rPr lang="en-US" smtClean="0"/>
              <a:t>8/25/2026</a:t>
            </a:fld>
            <a:endParaRPr lang="en-US"/>
          </a:p>
        </p:txBody>
      </p:sp>
      <p:sp>
        <p:nvSpPr>
          <p:cNvPr id="6" name="Slide Number Placeholder 5"/>
          <p:cNvSpPr>
            <a:spLocks noGrp="1"/>
          </p:cNvSpPr>
          <p:nvPr>
            <p:ph type="sldNum" sz="quarter" idx="4"/>
          </p:nvPr>
        </p:nvSpPr>
        <p:spPr>
          <a:xfrm>
            <a:off x="15163800" y="9920219"/>
            <a:ext cx="3124200" cy="357710"/>
          </a:xfrm>
          <a:prstGeom prst="rect">
            <a:avLst/>
          </a:prstGeom>
        </p:spPr>
        <p:txBody>
          <a:bodyPr vert="horz" lIns="91440" tIns="45720" rIns="91440" bIns="45720" rtlCol="0" anchor="ctr"/>
          <a:lstStyle>
            <a:lvl1pPr algn="ctr">
              <a:defRPr sz="1200">
                <a:solidFill>
                  <a:schemeClr val="tx1">
                    <a:tint val="75000"/>
                  </a:schemeClr>
                </a:solidFill>
              </a:defRPr>
            </a:lvl1pPr>
          </a:lstStyle>
          <a:p>
            <a:pPr algn="r"/>
            <a:r>
              <a:rPr lang="en-US" dirty="0"/>
              <a:t>Elective 4 (Special Topics on Web and Mobile 2)</a:t>
            </a:r>
          </a:p>
        </p:txBody>
      </p:sp>
    </p:spTree>
  </p:cSld>
  <p:clrMap bg1="lt1" tx1="dk1" bg2="lt2" tx2="dk2" accent1="accent1" accent2="accent2" accent3="accent3" accent4="accent4" accent5="accent5" accent6="accent6" hlink="hlink" folHlink="folHlink"/>
  <p:sldLayoutIdLst>
    <p:sldLayoutId id="2147483655"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13">
            <a:extLst>
              <a:ext uri="{FF2B5EF4-FFF2-40B4-BE49-F238E27FC236}">
                <a16:creationId xmlns:a16="http://schemas.microsoft.com/office/drawing/2014/main" id="{03BEDA6F-F03E-338A-E884-B57BB6E88A2C}"/>
              </a:ext>
            </a:extLst>
          </p:cNvPr>
          <p:cNvGrpSpPr>
            <a:grpSpLocks noGrp="1" noUngrp="1" noRot="1" noMove="1" noResize="1"/>
          </p:cNvGrpSpPr>
          <p:nvPr/>
        </p:nvGrpSpPr>
        <p:grpSpPr>
          <a:xfrm>
            <a:off x="26324" y="81359"/>
            <a:ext cx="6840467" cy="1321138"/>
            <a:chOff x="0" y="0"/>
            <a:chExt cx="15396444" cy="3066458"/>
          </a:xfrm>
        </p:grpSpPr>
        <p:sp>
          <p:nvSpPr>
            <p:cNvPr id="35" name="Freeform 14">
              <a:extLst>
                <a:ext uri="{FF2B5EF4-FFF2-40B4-BE49-F238E27FC236}">
                  <a16:creationId xmlns:a16="http://schemas.microsoft.com/office/drawing/2014/main" id="{774B46A4-1A07-1B6E-041F-F6905CFA41E7}"/>
                </a:ext>
              </a:extLst>
            </p:cNvPr>
            <p:cNvSpPr>
              <a:spLocks noGrp="1" noRot="1" noMove="1" noResize="1" noEditPoints="1" noAdjustHandles="1" noChangeArrowheads="1" noChangeShapeType="1"/>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3"/>
              <a:stretch>
                <a:fillRect/>
              </a:stretch>
            </a:blipFill>
          </p:spPr>
          <p:txBody>
            <a:bodyPr/>
            <a:lstStyle/>
            <a:p>
              <a:endParaRPr lang="en-PH"/>
            </a:p>
          </p:txBody>
        </p:sp>
        <p:sp>
          <p:nvSpPr>
            <p:cNvPr id="36" name="Freeform 15">
              <a:extLst>
                <a:ext uri="{FF2B5EF4-FFF2-40B4-BE49-F238E27FC236}">
                  <a16:creationId xmlns:a16="http://schemas.microsoft.com/office/drawing/2014/main" id="{E1DF7690-B553-61D6-9179-CCFD49C98B9E}"/>
                </a:ext>
              </a:extLst>
            </p:cNvPr>
            <p:cNvSpPr>
              <a:spLocks noGrp="1" noRot="1" noMove="1" noResize="1" noEditPoints="1" noAdjustHandles="1" noChangeArrowheads="1" noChangeShapeType="1"/>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3"/>
              <a:stretch>
                <a:fillRect/>
              </a:stretch>
            </a:blipFill>
          </p:spPr>
          <p:txBody>
            <a:bodyPr/>
            <a:lstStyle/>
            <a:p>
              <a:endParaRPr lang="en-PH"/>
            </a:p>
          </p:txBody>
        </p:sp>
        <p:sp>
          <p:nvSpPr>
            <p:cNvPr id="37" name="Freeform 16">
              <a:extLst>
                <a:ext uri="{FF2B5EF4-FFF2-40B4-BE49-F238E27FC236}">
                  <a16:creationId xmlns:a16="http://schemas.microsoft.com/office/drawing/2014/main" id="{7D4F7B43-6DF2-1438-AF14-A92B65A0B7BC}"/>
                </a:ext>
              </a:extLst>
            </p:cNvPr>
            <p:cNvSpPr>
              <a:spLocks noGrp="1" noRot="1" noMove="1" noResize="1" noEditPoints="1" noAdjustHandles="1" noChangeArrowheads="1" noChangeShapeType="1"/>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3"/>
              <a:stretch>
                <a:fillRect/>
              </a:stretch>
            </a:blipFill>
          </p:spPr>
          <p:txBody>
            <a:bodyPr/>
            <a:lstStyle/>
            <a:p>
              <a:endParaRPr lang="en-PH" dirty="0"/>
            </a:p>
          </p:txBody>
        </p:sp>
      </p:grpSp>
      <p:sp>
        <p:nvSpPr>
          <p:cNvPr id="6" name="Google Shape;85;p13">
            <a:extLst>
              <a:ext uri="{FF2B5EF4-FFF2-40B4-BE49-F238E27FC236}">
                <a16:creationId xmlns:a16="http://schemas.microsoft.com/office/drawing/2014/main" id="{76F867A9-D422-C49C-55BB-072203541854}"/>
              </a:ext>
            </a:extLst>
          </p:cNvPr>
          <p:cNvSpPr txBox="1"/>
          <p:nvPr/>
        </p:nvSpPr>
        <p:spPr>
          <a:xfrm>
            <a:off x="5975032" y="3695700"/>
            <a:ext cx="6337936" cy="110799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7200" b="1" dirty="0">
                <a:solidFill>
                  <a:srgbClr val="002D62"/>
                </a:solidFill>
                <a:latin typeface="Poppins"/>
                <a:ea typeface="Poppins"/>
                <a:cs typeface="Poppins"/>
                <a:sym typeface="Poppins"/>
              </a:rPr>
              <a:t>Chapter 1</a:t>
            </a:r>
          </a:p>
        </p:txBody>
      </p:sp>
      <p:grpSp>
        <p:nvGrpSpPr>
          <p:cNvPr id="11" name="Group 2">
            <a:extLst>
              <a:ext uri="{FF2B5EF4-FFF2-40B4-BE49-F238E27FC236}">
                <a16:creationId xmlns:a16="http://schemas.microsoft.com/office/drawing/2014/main" id="{F3CFCFD9-F42E-F100-6900-CAB83FD2AE37}"/>
              </a:ext>
            </a:extLst>
          </p:cNvPr>
          <p:cNvGrpSpPr/>
          <p:nvPr/>
        </p:nvGrpSpPr>
        <p:grpSpPr>
          <a:xfrm>
            <a:off x="16389668" y="8420100"/>
            <a:ext cx="1828800" cy="1671354"/>
            <a:chOff x="0" y="0"/>
            <a:chExt cx="10022021" cy="9446043"/>
          </a:xfrm>
        </p:grpSpPr>
        <p:sp>
          <p:nvSpPr>
            <p:cNvPr id="12" name="Freeform 3">
              <a:extLst>
                <a:ext uri="{FF2B5EF4-FFF2-40B4-BE49-F238E27FC236}">
                  <a16:creationId xmlns:a16="http://schemas.microsoft.com/office/drawing/2014/main" id="{E8336256-6156-C76B-334C-89AF9FC717B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4">
                <a:alphaModFix amt="15000"/>
              </a:blip>
              <a:stretch>
                <a:fillRect/>
              </a:stretch>
            </a:blipFill>
          </p:spPr>
          <p:txBody>
            <a:bodyPr/>
            <a:lstStyle/>
            <a:p>
              <a:endParaRPr lang="en-PH"/>
            </a:p>
          </p:txBody>
        </p:sp>
        <p:sp>
          <p:nvSpPr>
            <p:cNvPr id="13" name="Freeform 4">
              <a:extLst>
                <a:ext uri="{FF2B5EF4-FFF2-40B4-BE49-F238E27FC236}">
                  <a16:creationId xmlns:a16="http://schemas.microsoft.com/office/drawing/2014/main" id="{F56F91F6-E422-C011-9DE1-B40F2AA69D9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4">
                <a:alphaModFix amt="15000"/>
              </a:blip>
              <a:stretch>
                <a:fillRect/>
              </a:stretch>
            </a:blipFill>
          </p:spPr>
          <p:txBody>
            <a:bodyPr/>
            <a:lstStyle/>
            <a:p>
              <a:endParaRPr lang="en-PH"/>
            </a:p>
          </p:txBody>
        </p:sp>
        <p:sp>
          <p:nvSpPr>
            <p:cNvPr id="14" name="Freeform 5">
              <a:extLst>
                <a:ext uri="{FF2B5EF4-FFF2-40B4-BE49-F238E27FC236}">
                  <a16:creationId xmlns:a16="http://schemas.microsoft.com/office/drawing/2014/main" id="{DA7A0E2B-DE8F-BA60-AA16-E2384F3A99C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4">
                <a:alphaModFix amt="15000"/>
              </a:blip>
              <a:stretch>
                <a:fillRect/>
              </a:stretch>
            </a:blipFill>
          </p:spPr>
          <p:txBody>
            <a:bodyPr/>
            <a:lstStyle/>
            <a:p>
              <a:endParaRPr lang="en-PH" dirty="0"/>
            </a:p>
          </p:txBody>
        </p:sp>
      </p:grpSp>
      <p:sp>
        <p:nvSpPr>
          <p:cNvPr id="2" name="Google Shape;85;p13">
            <a:extLst>
              <a:ext uri="{FF2B5EF4-FFF2-40B4-BE49-F238E27FC236}">
                <a16:creationId xmlns:a16="http://schemas.microsoft.com/office/drawing/2014/main" id="{A7FA7EC0-0276-D60E-56FC-A2D1B8BF3837}"/>
              </a:ext>
            </a:extLst>
          </p:cNvPr>
          <p:cNvSpPr txBox="1"/>
          <p:nvPr/>
        </p:nvSpPr>
        <p:spPr>
          <a:xfrm>
            <a:off x="1441132" y="5295900"/>
            <a:ext cx="15405736" cy="830997"/>
          </a:xfrm>
          <a:prstGeom prst="rect">
            <a:avLst/>
          </a:prstGeom>
          <a:noFill/>
          <a:ln>
            <a:noFill/>
          </a:ln>
        </p:spPr>
        <p:txBody>
          <a:bodyPr spcFirstLastPara="1" wrap="square" lIns="0" tIns="0" rIns="0" bIns="0" anchor="t" anchorCtr="0">
            <a:spAutoFit/>
          </a:bodyPr>
          <a:lstStyle/>
          <a:p>
            <a:pPr lvl="0" algn="ctr"/>
            <a:r>
              <a:rPr lang="en-US" sz="5400" b="1" dirty="0">
                <a:solidFill>
                  <a:srgbClr val="002D62"/>
                </a:solidFill>
                <a:latin typeface="Poppins"/>
                <a:ea typeface="Poppins"/>
                <a:cs typeface="Poppins"/>
                <a:sym typeface="Poppins"/>
              </a:rPr>
              <a:t>Python Programming Fundamentals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173279B-9489-A932-B487-1D049A89EEBB}"/>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71426C5E-8C92-78CB-1D46-2AD2E8EFEBEF}"/>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010DCBA1-8F14-654E-B2CF-5A12D1A7D180}"/>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AB01D725-D66D-1A5F-B4CC-07FBCF059B57}"/>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33C30D04-38D0-D015-1CEC-AAFB4268BD83}"/>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2468C3A4-6009-1F77-3F03-3D1E6BC4AA26}"/>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Python Concepts</a:t>
            </a:r>
          </a:p>
        </p:txBody>
      </p:sp>
      <p:sp>
        <p:nvSpPr>
          <p:cNvPr id="7" name="Google Shape;103;p15">
            <a:extLst>
              <a:ext uri="{FF2B5EF4-FFF2-40B4-BE49-F238E27FC236}">
                <a16:creationId xmlns:a16="http://schemas.microsoft.com/office/drawing/2014/main" id="{0E34ABAE-48AD-E09A-6907-F6B2E9F49D49}"/>
              </a:ext>
            </a:extLst>
          </p:cNvPr>
          <p:cNvSpPr txBox="1"/>
          <p:nvPr/>
        </p:nvSpPr>
        <p:spPr>
          <a:xfrm>
            <a:off x="304800" y="1257300"/>
            <a:ext cx="17654587" cy="7848302"/>
          </a:xfrm>
          <a:prstGeom prst="rect">
            <a:avLst/>
          </a:prstGeom>
          <a:noFill/>
          <a:ln>
            <a:noFill/>
          </a:ln>
        </p:spPr>
        <p:txBody>
          <a:bodyPr spcFirstLastPara="1" wrap="square" lIns="0" tIns="0" rIns="0" bIns="0" anchor="t" anchorCtr="0">
            <a:spAutoFit/>
          </a:bodyPr>
          <a:lstStyle/>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Python is among the commonly used programming languages. It is used for </a:t>
            </a:r>
            <a:r>
              <a:rPr lang="en-US" sz="3400" b="1" dirty="0">
                <a:solidFill>
                  <a:srgbClr val="002060"/>
                </a:solidFill>
                <a:latin typeface="Poppins" panose="00000500000000000000" pitchFamily="2" charset="0"/>
                <a:ea typeface="Lato"/>
                <a:cs typeface="Poppins" panose="00000500000000000000" pitchFamily="2" charset="0"/>
                <a:sym typeface="Lato"/>
              </a:rPr>
              <a:t>Web development </a:t>
            </a:r>
            <a:r>
              <a:rPr lang="en-US" sz="3400" dirty="0">
                <a:solidFill>
                  <a:srgbClr val="002060"/>
                </a:solidFill>
                <a:latin typeface="Poppins" panose="00000500000000000000" pitchFamily="2" charset="0"/>
                <a:ea typeface="Lato"/>
                <a:cs typeface="Poppins" panose="00000500000000000000" pitchFamily="2" charset="0"/>
                <a:sym typeface="Lato"/>
              </a:rPr>
              <a:t>(server-side), </a:t>
            </a:r>
            <a:r>
              <a:rPr lang="en-US" sz="3400" b="1" dirty="0">
                <a:solidFill>
                  <a:srgbClr val="002060"/>
                </a:solidFill>
                <a:latin typeface="Poppins" panose="00000500000000000000" pitchFamily="2" charset="0"/>
                <a:ea typeface="Lato"/>
                <a:cs typeface="Poppins" panose="00000500000000000000" pitchFamily="2" charset="0"/>
                <a:sym typeface="Lato"/>
              </a:rPr>
              <a:t>software development</a:t>
            </a:r>
            <a:r>
              <a:rPr lang="en-US" sz="3400" dirty="0">
                <a:solidFill>
                  <a:srgbClr val="002060"/>
                </a:solidFill>
                <a:latin typeface="Poppins" panose="00000500000000000000" pitchFamily="2" charset="0"/>
                <a:ea typeface="Lato"/>
                <a:cs typeface="Poppins" panose="00000500000000000000" pitchFamily="2" charset="0"/>
                <a:sym typeface="Lato"/>
              </a:rPr>
              <a:t>, </a:t>
            </a:r>
            <a:r>
              <a:rPr lang="en-US" sz="3400" b="1" dirty="0">
                <a:solidFill>
                  <a:srgbClr val="002060"/>
                </a:solidFill>
                <a:latin typeface="Poppins" panose="00000500000000000000" pitchFamily="2" charset="0"/>
                <a:ea typeface="Lato"/>
                <a:cs typeface="Poppins" panose="00000500000000000000" pitchFamily="2" charset="0"/>
                <a:sym typeface="Lato"/>
              </a:rPr>
              <a:t>mathematics</a:t>
            </a:r>
            <a:r>
              <a:rPr lang="en-US" sz="3400" dirty="0">
                <a:solidFill>
                  <a:srgbClr val="002060"/>
                </a:solidFill>
                <a:latin typeface="Poppins" panose="00000500000000000000" pitchFamily="2" charset="0"/>
                <a:ea typeface="Lato"/>
                <a:cs typeface="Poppins" panose="00000500000000000000" pitchFamily="2" charset="0"/>
                <a:sym typeface="Lato"/>
              </a:rPr>
              <a:t> and more. Also, it is a high-level, interpreted, object-oriented programming language known for its readable syntax and versatility which allow programmers to express complex logic in fewer lines of code compared to other languages such as C++, Java, or PHP.</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It was originally created by Guido van Rossum in the late 1980s and officially released in 1991, Python supports multiple programming paradigms, including procedural, object-oriented, and functional programming.</a:t>
            </a:r>
          </a:p>
        </p:txBody>
      </p:sp>
      <p:sp>
        <p:nvSpPr>
          <p:cNvPr id="2" name="Slide Number Placeholder 5">
            <a:extLst>
              <a:ext uri="{FF2B5EF4-FFF2-40B4-BE49-F238E27FC236}">
                <a16:creationId xmlns:a16="http://schemas.microsoft.com/office/drawing/2014/main" id="{9E6809A3-0A84-D833-720C-AC5490BBE1DD}"/>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3354257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91D2D661-61E8-9308-BD59-43ABEEFAE82C}"/>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4F7720CE-C4C0-5896-A973-24193AC9DD82}"/>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5396E820-3AB9-363A-E934-1F13F47B5E9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68799577-1BCF-DB13-926A-DB6E02B747BC}"/>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74101228-4D9C-9C9C-672A-8D4249E9B36C}"/>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92134063-08FF-D63A-25E5-F61704D34722}"/>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Characteristics of Python</a:t>
            </a:r>
          </a:p>
        </p:txBody>
      </p:sp>
      <p:sp>
        <p:nvSpPr>
          <p:cNvPr id="7" name="Google Shape;103;p15">
            <a:extLst>
              <a:ext uri="{FF2B5EF4-FFF2-40B4-BE49-F238E27FC236}">
                <a16:creationId xmlns:a16="http://schemas.microsoft.com/office/drawing/2014/main" id="{38F78EA8-9C2E-EB25-755B-FC1979550F8E}"/>
              </a:ext>
            </a:extLst>
          </p:cNvPr>
          <p:cNvSpPr txBox="1"/>
          <p:nvPr/>
        </p:nvSpPr>
        <p:spPr>
          <a:xfrm>
            <a:off x="304800" y="1257300"/>
            <a:ext cx="17654587" cy="8633133"/>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1. Interpreted Language </a:t>
            </a:r>
            <a:r>
              <a:rPr lang="en-US" sz="3400" dirty="0">
                <a:solidFill>
                  <a:srgbClr val="002060"/>
                </a:solidFill>
                <a:latin typeface="Poppins" panose="00000500000000000000" pitchFamily="2" charset="0"/>
                <a:ea typeface="Lato"/>
                <a:cs typeface="Poppins" panose="00000500000000000000" pitchFamily="2" charset="0"/>
                <a:sym typeface="Lato"/>
              </a:rPr>
              <a:t>- It executes code line by line, as opposed to compiled languages like C or Java that are converted into machine code before running.</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Example:</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2. Dynamic Typing </a:t>
            </a:r>
            <a:r>
              <a:rPr lang="en-US" sz="3400" dirty="0">
                <a:solidFill>
                  <a:srgbClr val="002060"/>
                </a:solidFill>
                <a:latin typeface="Poppins" panose="00000500000000000000" pitchFamily="2" charset="0"/>
                <a:ea typeface="Lato"/>
                <a:cs typeface="Poppins" panose="00000500000000000000" pitchFamily="2" charset="0"/>
                <a:sym typeface="Lato"/>
              </a:rPr>
              <a:t>- Python uses dynamic typing, meaning that you do not declare the data type of a variable. The type is determined at runtime based on the value assigned.</a:t>
            </a:r>
          </a:p>
        </p:txBody>
      </p:sp>
      <p:sp>
        <p:nvSpPr>
          <p:cNvPr id="2" name="Slide Number Placeholder 5">
            <a:extLst>
              <a:ext uri="{FF2B5EF4-FFF2-40B4-BE49-F238E27FC236}">
                <a16:creationId xmlns:a16="http://schemas.microsoft.com/office/drawing/2014/main" id="{3E6E68BA-D027-09C2-1AEF-80C406CD085C}"/>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grpSp>
        <p:nvGrpSpPr>
          <p:cNvPr id="3" name="Group 2">
            <a:extLst>
              <a:ext uri="{FF2B5EF4-FFF2-40B4-BE49-F238E27FC236}">
                <a16:creationId xmlns:a16="http://schemas.microsoft.com/office/drawing/2014/main" id="{AF68E4DA-C5CB-5B7B-1D22-C9DDCEB3CFCD}"/>
              </a:ext>
            </a:extLst>
          </p:cNvPr>
          <p:cNvGrpSpPr/>
          <p:nvPr/>
        </p:nvGrpSpPr>
        <p:grpSpPr>
          <a:xfrm>
            <a:off x="363248" y="3879056"/>
            <a:ext cx="14800551" cy="3169444"/>
            <a:chOff x="749993" y="5147609"/>
            <a:chExt cx="13638862" cy="2528888"/>
          </a:xfrm>
        </p:grpSpPr>
        <p:pic>
          <p:nvPicPr>
            <p:cNvPr id="4" name="Picture 3" descr="A screen shot of a computer screen&#10;&#10;AI-generated content may be incorrect.">
              <a:extLst>
                <a:ext uri="{FF2B5EF4-FFF2-40B4-BE49-F238E27FC236}">
                  <a16:creationId xmlns:a16="http://schemas.microsoft.com/office/drawing/2014/main" id="{5DF75F44-3A6E-ACE7-1293-B8C77D1F0910}"/>
                </a:ext>
              </a:extLst>
            </p:cNvPr>
            <p:cNvPicPr>
              <a:picLocks noChangeAspect="1"/>
            </p:cNvPicPr>
            <p:nvPr/>
          </p:nvPicPr>
          <p:blipFill>
            <a:blip r:embed="rId4"/>
            <a:stretch>
              <a:fillRect/>
            </a:stretch>
          </p:blipFill>
          <p:spPr>
            <a:xfrm>
              <a:off x="749993" y="5147609"/>
              <a:ext cx="6867062" cy="2528888"/>
            </a:xfrm>
            <a:prstGeom prst="rect">
              <a:avLst/>
            </a:prstGeom>
          </p:spPr>
        </p:pic>
        <p:sp>
          <p:nvSpPr>
            <p:cNvPr id="5" name="Text Box 17">
              <a:extLst>
                <a:ext uri="{FF2B5EF4-FFF2-40B4-BE49-F238E27FC236}">
                  <a16:creationId xmlns:a16="http://schemas.microsoft.com/office/drawing/2014/main" id="{146360CF-8A5E-7564-B7E7-70ED0B5B5280}"/>
                </a:ext>
              </a:extLst>
            </p:cNvPr>
            <p:cNvSpPr txBox="1">
              <a:spLocks noChangeArrowheads="1"/>
            </p:cNvSpPr>
            <p:nvPr/>
          </p:nvSpPr>
          <p:spPr bwMode="auto">
            <a:xfrm>
              <a:off x="8940555" y="6605885"/>
              <a:ext cx="5448300" cy="461665"/>
            </a:xfrm>
            <a:prstGeom prst="rect">
              <a:avLst/>
            </a:prstGeom>
            <a:noFill/>
            <a:ln w="9525">
              <a:noFill/>
              <a:miter lim="800000"/>
              <a:headEnd/>
              <a:tailEnd/>
            </a:ln>
          </p:spPr>
          <p:txBody>
            <a:bodyPr rot="0" vert="horz" wrap="square" lIns="91440" tIns="45720" rIns="91440" bIns="45720" anchor="t" anchorCtr="0">
              <a:spAutoFit/>
            </a:bodyPr>
            <a:lstStyle/>
            <a:p>
              <a:pPr marL="0" marR="0" algn="just">
                <a:buNone/>
              </a:pPr>
              <a:r>
                <a:rPr lang="en-PH" sz="2400" kern="100" dirty="0">
                  <a:effectLst/>
                  <a:latin typeface="Poppins" panose="00000500000000000000" pitchFamily="2" charset="0"/>
                  <a:ea typeface="Aptos" panose="020B0004020202020204" pitchFamily="34" charset="0"/>
                  <a:cs typeface="Poppins" panose="00000500000000000000" pitchFamily="2" charset="0"/>
                </a:rPr>
                <a:t>Runtime error occurs here.</a:t>
              </a:r>
            </a:p>
          </p:txBody>
        </p:sp>
        <p:cxnSp>
          <p:nvCxnSpPr>
            <p:cNvPr id="11" name="Straight Arrow Connector 10">
              <a:extLst>
                <a:ext uri="{FF2B5EF4-FFF2-40B4-BE49-F238E27FC236}">
                  <a16:creationId xmlns:a16="http://schemas.microsoft.com/office/drawing/2014/main" id="{B6153CCA-FF22-8685-C7B0-2A96B686A153}"/>
                </a:ext>
              </a:extLst>
            </p:cNvPr>
            <p:cNvCxnSpPr>
              <a:cxnSpLocks/>
              <a:endCxn id="5" idx="1"/>
            </p:cNvCxnSpPr>
            <p:nvPr/>
          </p:nvCxnSpPr>
          <p:spPr>
            <a:xfrm>
              <a:off x="4724400" y="6836718"/>
              <a:ext cx="4216155"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 name="Text Box 17">
              <a:extLst>
                <a:ext uri="{FF2B5EF4-FFF2-40B4-BE49-F238E27FC236}">
                  <a16:creationId xmlns:a16="http://schemas.microsoft.com/office/drawing/2014/main" id="{B5F60FAE-82EB-BB45-8DF5-22ADC038A27D}"/>
                </a:ext>
              </a:extLst>
            </p:cNvPr>
            <p:cNvSpPr txBox="1">
              <a:spLocks noChangeArrowheads="1"/>
            </p:cNvSpPr>
            <p:nvPr/>
          </p:nvSpPr>
          <p:spPr bwMode="auto">
            <a:xfrm>
              <a:off x="8940555" y="7200247"/>
              <a:ext cx="4381500" cy="461665"/>
            </a:xfrm>
            <a:prstGeom prst="rect">
              <a:avLst/>
            </a:prstGeom>
            <a:noFill/>
            <a:ln w="9525">
              <a:noFill/>
              <a:miter lim="800000"/>
              <a:headEnd/>
              <a:tailEnd/>
            </a:ln>
          </p:spPr>
          <p:txBody>
            <a:bodyPr rot="0" vert="horz" wrap="square" lIns="91440" tIns="45720" rIns="91440" bIns="45720" anchor="t" anchorCtr="0">
              <a:spAutoFit/>
            </a:bodyPr>
            <a:lstStyle/>
            <a:p>
              <a:pPr marL="0" marR="0" algn="just">
                <a:buNone/>
              </a:pPr>
              <a:r>
                <a:rPr lang="en-PH" sz="2400" kern="100" dirty="0">
                  <a:effectLst/>
                  <a:latin typeface="Poppins" panose="00000500000000000000" pitchFamily="2" charset="0"/>
                  <a:ea typeface="Aptos" panose="020B0004020202020204" pitchFamily="34" charset="0"/>
                  <a:cs typeface="Poppins" panose="00000500000000000000" pitchFamily="2" charset="0"/>
                </a:rPr>
                <a:t>This will NOT run.</a:t>
              </a:r>
            </a:p>
          </p:txBody>
        </p:sp>
        <p:cxnSp>
          <p:nvCxnSpPr>
            <p:cNvPr id="13" name="Straight Arrow Connector 12">
              <a:extLst>
                <a:ext uri="{FF2B5EF4-FFF2-40B4-BE49-F238E27FC236}">
                  <a16:creationId xmlns:a16="http://schemas.microsoft.com/office/drawing/2014/main" id="{6EF2E65B-3745-697F-9432-8FE241028C9A}"/>
                </a:ext>
              </a:extLst>
            </p:cNvPr>
            <p:cNvCxnSpPr>
              <a:cxnSpLocks/>
            </p:cNvCxnSpPr>
            <p:nvPr/>
          </p:nvCxnSpPr>
          <p:spPr>
            <a:xfrm>
              <a:off x="5430975" y="7429500"/>
              <a:ext cx="3484425"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253931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2EAD080B-E73F-0473-1435-AF913D51B68A}"/>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3F900BFA-583B-35AA-A26A-D70D92E147E4}"/>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395A9A16-BF65-635C-5E39-002B84F15D73}"/>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8D146DC9-2A5E-622A-8DA7-C98B3D9F9D5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9AECFB16-8D07-1A01-7C2D-0A1B161D4D7C}"/>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AD0980D5-498E-E577-2F99-14432D1C3D3C}"/>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Characteristics of Python</a:t>
            </a:r>
          </a:p>
        </p:txBody>
      </p:sp>
      <p:sp>
        <p:nvSpPr>
          <p:cNvPr id="7" name="Google Shape;103;p15">
            <a:extLst>
              <a:ext uri="{FF2B5EF4-FFF2-40B4-BE49-F238E27FC236}">
                <a16:creationId xmlns:a16="http://schemas.microsoft.com/office/drawing/2014/main" id="{BDCE173E-0B7C-81AC-F93A-CEEB092FCF34}"/>
              </a:ext>
            </a:extLst>
          </p:cNvPr>
          <p:cNvSpPr txBox="1"/>
          <p:nvPr/>
        </p:nvSpPr>
        <p:spPr>
          <a:xfrm>
            <a:off x="304800" y="1257300"/>
            <a:ext cx="17654587" cy="784830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3. High Level </a:t>
            </a:r>
            <a:r>
              <a:rPr lang="en-US" sz="3400" dirty="0">
                <a:solidFill>
                  <a:srgbClr val="002060"/>
                </a:solidFill>
                <a:latin typeface="Poppins" panose="00000500000000000000" pitchFamily="2" charset="0"/>
                <a:ea typeface="Lato"/>
                <a:cs typeface="Poppins" panose="00000500000000000000" pitchFamily="2" charset="0"/>
                <a:sym typeface="Lato"/>
              </a:rPr>
              <a:t>- A high-level language allows you to write programs in a way that is close to human language. For example, when using a function, python handles the complexity while not worrying about how it works internally. Compare this to a low-level language like machine language where every instruction should be written in form of 0 and 1 and it’s very challenging to understand and use as primary language.</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4. Multi-paradigm </a:t>
            </a:r>
            <a:r>
              <a:rPr lang="en-US" sz="3400" dirty="0">
                <a:solidFill>
                  <a:srgbClr val="002060"/>
                </a:solidFill>
                <a:latin typeface="Poppins" panose="00000500000000000000" pitchFamily="2" charset="0"/>
                <a:ea typeface="Lato"/>
                <a:cs typeface="Poppins" panose="00000500000000000000" pitchFamily="2" charset="0"/>
                <a:sym typeface="Lato"/>
              </a:rPr>
              <a:t>- Python supports multiple programming styles, which makes it highly flexible and adaptable to different types of projects. It supports procedural, object-oriented, and functional programming styles.</a:t>
            </a:r>
          </a:p>
        </p:txBody>
      </p:sp>
      <p:sp>
        <p:nvSpPr>
          <p:cNvPr id="2" name="Slide Number Placeholder 5">
            <a:extLst>
              <a:ext uri="{FF2B5EF4-FFF2-40B4-BE49-F238E27FC236}">
                <a16:creationId xmlns:a16="http://schemas.microsoft.com/office/drawing/2014/main" id="{A4E1F6B5-66C3-70A4-2A1C-2D6A27A42058}"/>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349373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AFEAE413-D5B6-EB5A-E08E-8F7469BE2C41}"/>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94BFA489-BF26-D898-BFA9-1CFE963C91C0}"/>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677FBA92-4AD5-640E-37F6-158D310792A1}"/>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09B4D57C-3048-3FF7-7AAA-126E6E22585D}"/>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4ECE80F0-5450-78D3-112A-9067A6CD9D16}"/>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DB7AD3DC-8B9D-5A66-8F3A-3CA62C5E6154}"/>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Use Cases of Python</a:t>
            </a:r>
          </a:p>
        </p:txBody>
      </p:sp>
      <p:sp>
        <p:nvSpPr>
          <p:cNvPr id="7" name="Google Shape;103;p15">
            <a:extLst>
              <a:ext uri="{FF2B5EF4-FFF2-40B4-BE49-F238E27FC236}">
                <a16:creationId xmlns:a16="http://schemas.microsoft.com/office/drawing/2014/main" id="{1245049D-6DF7-C043-BE77-B3262882CB1C}"/>
              </a:ext>
            </a:extLst>
          </p:cNvPr>
          <p:cNvSpPr txBox="1"/>
          <p:nvPr/>
        </p:nvSpPr>
        <p:spPr>
          <a:xfrm>
            <a:off x="304800" y="1257300"/>
            <a:ext cx="17654587" cy="8633133"/>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1. Web Development - </a:t>
            </a:r>
            <a:r>
              <a:rPr lang="en-US" sz="3400" dirty="0">
                <a:solidFill>
                  <a:srgbClr val="002060"/>
                </a:solidFill>
                <a:latin typeface="Poppins" panose="00000500000000000000" pitchFamily="2" charset="0"/>
                <a:ea typeface="Lato"/>
                <a:cs typeface="Poppins" panose="00000500000000000000" pitchFamily="2" charset="0"/>
                <a:sym typeface="Lato"/>
              </a:rPr>
              <a:t>Python is widely used to build the back end (server-side) of web applications. It offers robust frameworks like Django and Flask, which help developers create secure, scalable, and maintainable websites and APIs.</a:t>
            </a: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Frameworks: </a:t>
            </a: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	Django: </a:t>
            </a:r>
            <a:r>
              <a:rPr lang="en-US" sz="3400" dirty="0">
                <a:solidFill>
                  <a:srgbClr val="002060"/>
                </a:solidFill>
                <a:latin typeface="Poppins" panose="00000500000000000000" pitchFamily="2" charset="0"/>
                <a:ea typeface="Lato"/>
                <a:cs typeface="Poppins" panose="00000500000000000000" pitchFamily="2" charset="0"/>
                <a:sym typeface="Lato"/>
              </a:rPr>
              <a:t>A high-level framework that follows the "batteries included" philosophy which includes everything needed to build a full-featured web app quickly.</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	Flask: </a:t>
            </a:r>
            <a:r>
              <a:rPr lang="en-US" sz="3400" dirty="0">
                <a:solidFill>
                  <a:srgbClr val="002060"/>
                </a:solidFill>
                <a:latin typeface="Poppins" panose="00000500000000000000" pitchFamily="2" charset="0"/>
                <a:ea typeface="Lato"/>
                <a:cs typeface="Poppins" panose="00000500000000000000" pitchFamily="2" charset="0"/>
                <a:sym typeface="Lato"/>
              </a:rPr>
              <a:t>A lightweight framework that gives developers more control and flexibility.</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F5879EFD-4A45-294A-E77D-DDD235210CFE}"/>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4" name="Picture 4" descr="Django logo and symbol, meaning, history, PNG">
            <a:extLst>
              <a:ext uri="{FF2B5EF4-FFF2-40B4-BE49-F238E27FC236}">
                <a16:creationId xmlns:a16="http://schemas.microsoft.com/office/drawing/2014/main" id="{6FC2654B-B893-B9D0-1CDD-687CE0D72551}"/>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52800" y="3467100"/>
            <a:ext cx="18288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Flask &amp; React - From Zero to Full-Stack (with Samples)">
            <a:extLst>
              <a:ext uri="{FF2B5EF4-FFF2-40B4-BE49-F238E27FC236}">
                <a16:creationId xmlns:a16="http://schemas.microsoft.com/office/drawing/2014/main" id="{1885AA76-C1F3-0A0D-8801-09C07A7BFCD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81600" y="3612573"/>
            <a:ext cx="2156853" cy="984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861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1058184-3214-3E5C-9016-08885823EE9F}"/>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43AFCA1A-66E0-7DBE-ED34-C2E321214284}"/>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DE613E6A-584B-6597-8E4B-B71D495CD4A1}"/>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071E76D5-3F83-90BF-568F-606C2106FC8E}"/>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F0B65CAB-473D-9B34-9D5D-153128AB2A54}"/>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D7149208-5898-8127-2252-04D9ED21B8C8}"/>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Use Cases of Python</a:t>
            </a:r>
          </a:p>
        </p:txBody>
      </p:sp>
      <p:sp>
        <p:nvSpPr>
          <p:cNvPr id="7" name="Google Shape;103;p15">
            <a:extLst>
              <a:ext uri="{FF2B5EF4-FFF2-40B4-BE49-F238E27FC236}">
                <a16:creationId xmlns:a16="http://schemas.microsoft.com/office/drawing/2014/main" id="{BD976A6B-14ED-8B1A-6322-27EE4C9AFB4F}"/>
              </a:ext>
            </a:extLst>
          </p:cNvPr>
          <p:cNvSpPr txBox="1"/>
          <p:nvPr/>
        </p:nvSpPr>
        <p:spPr>
          <a:xfrm>
            <a:off x="304800" y="1257300"/>
            <a:ext cx="17654587" cy="8633133"/>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2. Data Analysis and Machine Learning </a:t>
            </a:r>
            <a:r>
              <a:rPr lang="en-US" sz="3400" dirty="0">
                <a:solidFill>
                  <a:srgbClr val="002060"/>
                </a:solidFill>
                <a:latin typeface="Poppins" panose="00000500000000000000" pitchFamily="2" charset="0"/>
                <a:ea typeface="Lato"/>
                <a:cs typeface="Poppins" panose="00000500000000000000" pitchFamily="2" charset="0"/>
                <a:sym typeface="Lato"/>
              </a:rPr>
              <a:t>- Python is a favorite in the data science world because of its simple syntax and powerful libraries for data handling and machine learning. </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Libraries:</a:t>
            </a:r>
          </a:p>
          <a:p>
            <a:pPr marL="457200" indent="-457200" algn="just">
              <a:lnSpc>
                <a:spcPct val="150000"/>
              </a:lnSpc>
              <a:buFont typeface="Arial" panose="020B0604020202020204" pitchFamily="34" charset="0"/>
              <a:buChar char="•"/>
            </a:pPr>
            <a:r>
              <a:rPr lang="en-US" sz="3400" b="1" dirty="0">
                <a:solidFill>
                  <a:srgbClr val="002060"/>
                </a:solidFill>
                <a:latin typeface="Poppins" panose="00000500000000000000" pitchFamily="2" charset="0"/>
                <a:ea typeface="Lato"/>
                <a:cs typeface="Poppins" panose="00000500000000000000" pitchFamily="2" charset="0"/>
                <a:sym typeface="Lato"/>
              </a:rPr>
              <a:t>NumPy: </a:t>
            </a:r>
            <a:r>
              <a:rPr lang="en-US" sz="3400" dirty="0">
                <a:solidFill>
                  <a:srgbClr val="002060"/>
                </a:solidFill>
                <a:latin typeface="Poppins" panose="00000500000000000000" pitchFamily="2" charset="0"/>
                <a:ea typeface="Lato"/>
                <a:cs typeface="Poppins" panose="00000500000000000000" pitchFamily="2" charset="0"/>
                <a:sym typeface="Lato"/>
              </a:rPr>
              <a:t>For numerical computing and array manipulation.</a:t>
            </a:r>
          </a:p>
          <a:p>
            <a:pPr marL="457200" indent="-457200" algn="just">
              <a:lnSpc>
                <a:spcPct val="150000"/>
              </a:lnSpc>
              <a:buFont typeface="Arial" panose="020B0604020202020204" pitchFamily="34" charset="0"/>
              <a:buChar char="•"/>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marL="457200" indent="-457200" algn="just">
              <a:lnSpc>
                <a:spcPct val="150000"/>
              </a:lnSpc>
              <a:buFont typeface="Arial" panose="020B0604020202020204" pitchFamily="34" charset="0"/>
              <a:buChar char="•"/>
            </a:pPr>
            <a:r>
              <a:rPr lang="en-US" sz="3400" b="1" dirty="0">
                <a:solidFill>
                  <a:srgbClr val="002060"/>
                </a:solidFill>
                <a:latin typeface="Poppins" panose="00000500000000000000" pitchFamily="2" charset="0"/>
                <a:ea typeface="Lato"/>
                <a:cs typeface="Poppins" panose="00000500000000000000" pitchFamily="2" charset="0"/>
                <a:sym typeface="Lato"/>
              </a:rPr>
              <a:t>pandas: </a:t>
            </a:r>
            <a:r>
              <a:rPr lang="en-US" sz="3400" dirty="0">
                <a:solidFill>
                  <a:srgbClr val="002060"/>
                </a:solidFill>
                <a:latin typeface="Poppins" panose="00000500000000000000" pitchFamily="2" charset="0"/>
                <a:ea typeface="Lato"/>
                <a:cs typeface="Poppins" panose="00000500000000000000" pitchFamily="2" charset="0"/>
                <a:sym typeface="Lato"/>
              </a:rPr>
              <a:t>For structured data handling (like tables, CSV files, Excel files).</a:t>
            </a:r>
          </a:p>
          <a:p>
            <a:pPr marL="457200" indent="-457200" algn="just">
              <a:lnSpc>
                <a:spcPct val="150000"/>
              </a:lnSpc>
              <a:buFont typeface="Arial" panose="020B0604020202020204" pitchFamily="34" charset="0"/>
              <a:buChar char="•"/>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marL="457200" indent="-457200" algn="just">
              <a:lnSpc>
                <a:spcPct val="150000"/>
              </a:lnSpc>
              <a:buFont typeface="Arial" panose="020B0604020202020204" pitchFamily="34" charset="0"/>
              <a:buChar char="•"/>
            </a:pPr>
            <a:r>
              <a:rPr lang="en-US" sz="3400" b="1" dirty="0">
                <a:solidFill>
                  <a:srgbClr val="002060"/>
                </a:solidFill>
                <a:latin typeface="Poppins" panose="00000500000000000000" pitchFamily="2" charset="0"/>
                <a:ea typeface="Lato"/>
                <a:cs typeface="Poppins" panose="00000500000000000000" pitchFamily="2" charset="0"/>
                <a:sym typeface="Lato"/>
              </a:rPr>
              <a:t>Matplotlib: </a:t>
            </a:r>
            <a:r>
              <a:rPr lang="en-US" sz="3400" dirty="0">
                <a:solidFill>
                  <a:srgbClr val="002060"/>
                </a:solidFill>
                <a:latin typeface="Poppins" panose="00000500000000000000" pitchFamily="2" charset="0"/>
                <a:ea typeface="Lato"/>
                <a:cs typeface="Poppins" panose="00000500000000000000" pitchFamily="2" charset="0"/>
                <a:sym typeface="Lato"/>
              </a:rPr>
              <a:t>For data visualization.</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349486F2-D5F0-60B1-9ACE-01A3456BB318}"/>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5" name="Picture 2" descr="A Simple Walk-through with NumPy for Data Science - Neuraspike">
            <a:extLst>
              <a:ext uri="{FF2B5EF4-FFF2-40B4-BE49-F238E27FC236}">
                <a16:creationId xmlns:a16="http://schemas.microsoft.com/office/drawing/2014/main" id="{D3FFD454-2B64-CCE4-9589-6AC8FDB27D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001375"/>
            <a:ext cx="1153901" cy="115390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3865671B-07BE-E20C-D3F7-9D1B04FA2F4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11835" y="3918001"/>
            <a:ext cx="3263375" cy="132064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B699D50E-6CCC-7129-80BD-CA3A0C459A47}"/>
              </a:ext>
            </a:extLst>
          </p:cNvPr>
          <p:cNvPicPr>
            <a:picLocks noChangeAspect="1"/>
          </p:cNvPicPr>
          <p:nvPr/>
        </p:nvPicPr>
        <p:blipFill>
          <a:blip r:embed="rId6"/>
          <a:stretch>
            <a:fillRect/>
          </a:stretch>
        </p:blipFill>
        <p:spPr>
          <a:xfrm>
            <a:off x="7380831" y="3125239"/>
            <a:ext cx="2906169" cy="2906169"/>
          </a:xfrm>
          <a:prstGeom prst="rect">
            <a:avLst/>
          </a:prstGeom>
        </p:spPr>
      </p:pic>
    </p:spTree>
    <p:extLst>
      <p:ext uri="{BB962C8B-B14F-4D97-AF65-F5344CB8AC3E}">
        <p14:creationId xmlns:p14="http://schemas.microsoft.com/office/powerpoint/2010/main" val="41867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1179424-C1C7-E5CA-B752-ACCFB24D55B2}"/>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DC3047EC-9C26-6B80-762A-FC12E5D5514A}"/>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86A50EE0-2E93-E3E4-8BF9-255DB4DBE8F8}"/>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8B7FEF82-46C4-EB1C-3849-CA0CE85B230C}"/>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BCCD093A-EC5C-49B3-6DEC-85BAA5BEADA9}"/>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14173FED-AE34-127A-C7A4-6BDAC1CAD9DE}"/>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Use Cases of Python</a:t>
            </a:r>
          </a:p>
        </p:txBody>
      </p:sp>
      <p:sp>
        <p:nvSpPr>
          <p:cNvPr id="7" name="Google Shape;103;p15">
            <a:extLst>
              <a:ext uri="{FF2B5EF4-FFF2-40B4-BE49-F238E27FC236}">
                <a16:creationId xmlns:a16="http://schemas.microsoft.com/office/drawing/2014/main" id="{24A08D13-866C-0248-6622-DC2A2617D78A}"/>
              </a:ext>
            </a:extLst>
          </p:cNvPr>
          <p:cNvSpPr txBox="1"/>
          <p:nvPr/>
        </p:nvSpPr>
        <p:spPr>
          <a:xfrm>
            <a:off x="304800" y="1257300"/>
            <a:ext cx="17654587" cy="8894743"/>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3. Automation and Scripting - </a:t>
            </a:r>
            <a:r>
              <a:rPr lang="en-US" sz="3400" dirty="0">
                <a:solidFill>
                  <a:srgbClr val="002060"/>
                </a:solidFill>
                <a:latin typeface="Poppins" panose="00000500000000000000" pitchFamily="2" charset="0"/>
                <a:ea typeface="Lato"/>
                <a:cs typeface="Poppins" panose="00000500000000000000" pitchFamily="2" charset="0"/>
                <a:sym typeface="Lato"/>
              </a:rPr>
              <a:t>Python is excellent for automating repetitive tasks, also called scripting. It's commonly used for file operations, sending emails, renaming files, scraping websites, and more. </a:t>
            </a:r>
          </a:p>
          <a:p>
            <a:pPr algn="just"/>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4. Software Testing and Prototyping - </a:t>
            </a:r>
            <a:r>
              <a:rPr lang="en-US" sz="3400" dirty="0">
                <a:solidFill>
                  <a:srgbClr val="002060"/>
                </a:solidFill>
                <a:latin typeface="Poppins" panose="00000500000000000000" pitchFamily="2" charset="0"/>
                <a:ea typeface="Lato"/>
                <a:cs typeface="Poppins" panose="00000500000000000000" pitchFamily="2" charset="0"/>
                <a:sym typeface="Lato"/>
              </a:rPr>
              <a:t>Python is widely used in software development for writing test cases and quickly creating prototypes of applications.</a:t>
            </a:r>
          </a:p>
          <a:p>
            <a:pPr algn="just"/>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5.	IoT, Robotics, Game Development, and Cybersecurity - </a:t>
            </a:r>
            <a:r>
              <a:rPr lang="en-US" sz="3400" dirty="0">
                <a:solidFill>
                  <a:srgbClr val="002060"/>
                </a:solidFill>
                <a:latin typeface="Poppins" panose="00000500000000000000" pitchFamily="2" charset="0"/>
                <a:ea typeface="Lato"/>
                <a:cs typeface="Poppins" panose="00000500000000000000" pitchFamily="2" charset="0"/>
                <a:sym typeface="Lato"/>
              </a:rPr>
              <a:t>Python also extends into emerging and technical fields, offering tools for interacting with hardware, developing games, and building secure systems. For example, Raspberry Pi which is used to control sensors and devices.</a:t>
            </a:r>
          </a:p>
        </p:txBody>
      </p:sp>
      <p:sp>
        <p:nvSpPr>
          <p:cNvPr id="2" name="Slide Number Placeholder 5">
            <a:extLst>
              <a:ext uri="{FF2B5EF4-FFF2-40B4-BE49-F238E27FC236}">
                <a16:creationId xmlns:a16="http://schemas.microsoft.com/office/drawing/2014/main" id="{2B6A1BEB-C2AE-166F-E9C6-766427DB48DA}"/>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2062454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2ECF1015-346D-3068-BA6C-14A7F964AA35}"/>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6C8EBAF9-3358-CE06-6CE4-858266D6F73D}"/>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3A20A55C-0175-1F58-0731-B8445416367E}"/>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CE674CF9-C1B0-DE61-51E0-000A6AD5FC5F}"/>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1CB8F74C-1788-1F30-C468-8A749DE34D88}"/>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1B37A381-27E1-8A62-83C8-03EBC0959C98}"/>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Learning Activity 1: Match the concept</a:t>
            </a:r>
          </a:p>
        </p:txBody>
      </p:sp>
      <p:sp>
        <p:nvSpPr>
          <p:cNvPr id="2" name="Slide Number Placeholder 5">
            <a:extLst>
              <a:ext uri="{FF2B5EF4-FFF2-40B4-BE49-F238E27FC236}">
                <a16:creationId xmlns:a16="http://schemas.microsoft.com/office/drawing/2014/main" id="{E8906956-BDBD-5F77-2020-79E8A216DC92}"/>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graphicFrame>
        <p:nvGraphicFramePr>
          <p:cNvPr id="4" name="Table 3">
            <a:extLst>
              <a:ext uri="{FF2B5EF4-FFF2-40B4-BE49-F238E27FC236}">
                <a16:creationId xmlns:a16="http://schemas.microsoft.com/office/drawing/2014/main" id="{B6106C8B-0177-A62D-9503-666669593C02}"/>
              </a:ext>
            </a:extLst>
          </p:cNvPr>
          <p:cNvGraphicFramePr>
            <a:graphicFrameLocks noGrp="1"/>
          </p:cNvGraphicFramePr>
          <p:nvPr>
            <p:extLst>
              <p:ext uri="{D42A27DB-BD31-4B8C-83A1-F6EECF244321}">
                <p14:modId xmlns:p14="http://schemas.microsoft.com/office/powerpoint/2010/main" val="3470694363"/>
              </p:ext>
            </p:extLst>
          </p:nvPr>
        </p:nvGraphicFramePr>
        <p:xfrm>
          <a:off x="304800" y="1181099"/>
          <a:ext cx="17602200" cy="8744561"/>
        </p:xfrm>
        <a:graphic>
          <a:graphicData uri="http://schemas.openxmlformats.org/drawingml/2006/table">
            <a:tbl>
              <a:tblPr firstRow="1" firstCol="1" bandRow="1">
                <a:tableStyleId>{D113A9D2-9D6B-4929-AA2D-F23B5EE8CBE7}</a:tableStyleId>
              </a:tblPr>
              <a:tblGrid>
                <a:gridCol w="6477000">
                  <a:extLst>
                    <a:ext uri="{9D8B030D-6E8A-4147-A177-3AD203B41FA5}">
                      <a16:colId xmlns:a16="http://schemas.microsoft.com/office/drawing/2014/main" val="707646368"/>
                    </a:ext>
                  </a:extLst>
                </a:gridCol>
                <a:gridCol w="11125200">
                  <a:extLst>
                    <a:ext uri="{9D8B030D-6E8A-4147-A177-3AD203B41FA5}">
                      <a16:colId xmlns:a16="http://schemas.microsoft.com/office/drawing/2014/main" val="3189531351"/>
                    </a:ext>
                  </a:extLst>
                </a:gridCol>
              </a:tblGrid>
              <a:tr h="701105">
                <a:tc>
                  <a:txBody>
                    <a:bodyPr/>
                    <a:lstStyle/>
                    <a:p>
                      <a:pPr marL="0" marR="0" algn="ctr">
                        <a:buNone/>
                        <a:tabLst>
                          <a:tab pos="3917950" algn="l"/>
                        </a:tabLst>
                      </a:pPr>
                      <a:r>
                        <a:rPr lang="en-PH" sz="3400" kern="100" dirty="0">
                          <a:effectLst/>
                          <a:latin typeface="Poppins" panose="00000500000000000000" pitchFamily="2" charset="0"/>
                          <a:cs typeface="Poppins" panose="00000500000000000000" pitchFamily="2" charset="0"/>
                        </a:rPr>
                        <a:t>Concept</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gn="ctr">
                        <a:buNone/>
                        <a:tabLst>
                          <a:tab pos="3917950" algn="l"/>
                        </a:tabLst>
                      </a:pPr>
                      <a:r>
                        <a:rPr lang="en-PH" sz="3400" kern="100" dirty="0">
                          <a:effectLst/>
                          <a:latin typeface="Poppins" panose="00000500000000000000" pitchFamily="2" charset="0"/>
                          <a:cs typeface="Poppins" panose="00000500000000000000" pitchFamily="2" charset="0"/>
                        </a:rPr>
                        <a:t>Definition</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143959657"/>
                  </a:ext>
                </a:extLst>
              </a:tr>
              <a:tr h="1794040">
                <a:tc>
                  <a:txBody>
                    <a:bodyPr/>
                    <a:lstStyle/>
                    <a:p>
                      <a:pPr marL="457200" marR="0" lvl="1" algn="l">
                        <a:buNone/>
                        <a:tabLst>
                          <a:tab pos="3917950" algn="l"/>
                        </a:tabLst>
                      </a:pPr>
                      <a:r>
                        <a:rPr lang="en-PH" sz="3400" b="0" kern="100" dirty="0">
                          <a:effectLst/>
                          <a:latin typeface="Poppins" panose="00000500000000000000" pitchFamily="2" charset="0"/>
                          <a:cs typeface="Poppins" panose="00000500000000000000" pitchFamily="2" charset="0"/>
                        </a:rPr>
                        <a:t>1. Interpreted</a:t>
                      </a:r>
                      <a:endParaRPr lang="en-PH" sz="3400" b="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lgn="just">
                        <a:buNone/>
                        <a:tabLst>
                          <a:tab pos="3917950" algn="l"/>
                        </a:tabLst>
                      </a:pPr>
                      <a:r>
                        <a:rPr lang="en-PH" sz="3400" kern="100">
                          <a:effectLst/>
                          <a:latin typeface="Poppins" panose="00000500000000000000" pitchFamily="2" charset="0"/>
                          <a:cs typeface="Poppins" panose="00000500000000000000" pitchFamily="2" charset="0"/>
                        </a:rPr>
                        <a:t>A. Variables do not need a declared type; their type is determined at runtime.</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1448271631"/>
                  </a:ext>
                </a:extLst>
              </a:tr>
              <a:tr h="1794040">
                <a:tc>
                  <a:txBody>
                    <a:bodyPr/>
                    <a:lstStyle/>
                    <a:p>
                      <a:pPr marL="457200" marR="0" lvl="1" algn="l">
                        <a:buNone/>
                        <a:tabLst>
                          <a:tab pos="3917950" algn="l"/>
                        </a:tabLst>
                      </a:pPr>
                      <a:r>
                        <a:rPr lang="en-PH" sz="3400" b="0" kern="100" dirty="0">
                          <a:effectLst/>
                          <a:latin typeface="Poppins" panose="00000500000000000000" pitchFamily="2" charset="0"/>
                          <a:cs typeface="Poppins" panose="00000500000000000000" pitchFamily="2" charset="0"/>
                        </a:rPr>
                        <a:t>2. Dynamic Typing</a:t>
                      </a:r>
                      <a:endParaRPr lang="en-PH" sz="3400" b="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lgn="just">
                        <a:buNone/>
                        <a:tabLst>
                          <a:tab pos="3917950" algn="l"/>
                        </a:tabLst>
                      </a:pPr>
                      <a:r>
                        <a:rPr lang="en-PH" sz="3400" kern="100" dirty="0">
                          <a:effectLst/>
                          <a:latin typeface="Poppins" panose="00000500000000000000" pitchFamily="2" charset="0"/>
                          <a:cs typeface="Poppins" panose="00000500000000000000" pitchFamily="2" charset="0"/>
                        </a:rPr>
                        <a:t>B. Code is close to human language and hides low-level system details.</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919130854"/>
                  </a:ext>
                </a:extLst>
              </a:tr>
              <a:tr h="1794040">
                <a:tc>
                  <a:txBody>
                    <a:bodyPr/>
                    <a:lstStyle/>
                    <a:p>
                      <a:pPr marL="457200" marR="0" lvl="1" algn="l">
                        <a:buNone/>
                        <a:tabLst>
                          <a:tab pos="3917950" algn="l"/>
                        </a:tabLst>
                      </a:pPr>
                      <a:r>
                        <a:rPr lang="en-PH" sz="3400" b="0" kern="100" dirty="0">
                          <a:effectLst/>
                          <a:latin typeface="Poppins" panose="00000500000000000000" pitchFamily="2" charset="0"/>
                          <a:cs typeface="Poppins" panose="00000500000000000000" pitchFamily="2" charset="0"/>
                        </a:rPr>
                        <a:t>3. High-Level Language</a:t>
                      </a:r>
                      <a:endParaRPr lang="en-PH" sz="3400" b="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lgn="just">
                        <a:buNone/>
                        <a:tabLst>
                          <a:tab pos="3917950" algn="l"/>
                        </a:tabLst>
                      </a:pPr>
                      <a:r>
                        <a:rPr lang="en-PH" sz="3400" kern="100" dirty="0">
                          <a:effectLst/>
                          <a:latin typeface="Poppins" panose="00000500000000000000" pitchFamily="2" charset="0"/>
                          <a:cs typeface="Poppins" panose="00000500000000000000" pitchFamily="2" charset="0"/>
                        </a:rPr>
                        <a:t>C. The program is executed line by line rather than compiled beforehand.</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2473281961"/>
                  </a:ext>
                </a:extLst>
              </a:tr>
              <a:tr h="1330668">
                <a:tc>
                  <a:txBody>
                    <a:bodyPr/>
                    <a:lstStyle/>
                    <a:p>
                      <a:pPr marL="457200" marR="0" lvl="1" algn="l">
                        <a:buNone/>
                        <a:tabLst>
                          <a:tab pos="3917950" algn="l"/>
                        </a:tabLst>
                      </a:pPr>
                      <a:r>
                        <a:rPr lang="en-PH" sz="3400" b="0" kern="100" dirty="0">
                          <a:effectLst/>
                          <a:latin typeface="Poppins" panose="00000500000000000000" pitchFamily="2" charset="0"/>
                          <a:cs typeface="Poppins" panose="00000500000000000000" pitchFamily="2" charset="0"/>
                        </a:rPr>
                        <a:t>4. Object-Oriented</a:t>
                      </a:r>
                      <a:endParaRPr lang="en-PH" sz="3400" b="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lgn="just">
                        <a:buNone/>
                        <a:tabLst>
                          <a:tab pos="3917950" algn="l"/>
                        </a:tabLst>
                      </a:pPr>
                      <a:r>
                        <a:rPr lang="en-PH" sz="3400" kern="100" dirty="0">
                          <a:effectLst/>
                          <a:latin typeface="Poppins" panose="00000500000000000000" pitchFamily="2" charset="0"/>
                          <a:cs typeface="Poppins" panose="00000500000000000000" pitchFamily="2" charset="0"/>
                        </a:rPr>
                        <a:t>D. Uses functions as building blocks and treats them as data.</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3493234246"/>
                  </a:ext>
                </a:extLst>
              </a:tr>
              <a:tr h="1330668">
                <a:tc>
                  <a:txBody>
                    <a:bodyPr/>
                    <a:lstStyle/>
                    <a:p>
                      <a:pPr marL="457200" marR="0" lvl="1" algn="l">
                        <a:buNone/>
                        <a:tabLst>
                          <a:tab pos="3917950" algn="l"/>
                        </a:tabLst>
                      </a:pPr>
                      <a:r>
                        <a:rPr lang="en-PH" sz="3400" b="0" kern="100" dirty="0">
                          <a:effectLst/>
                          <a:latin typeface="Poppins" panose="00000500000000000000" pitchFamily="2" charset="0"/>
                          <a:cs typeface="Poppins" panose="00000500000000000000" pitchFamily="2" charset="0"/>
                        </a:rPr>
                        <a:t>5. Functional Programming</a:t>
                      </a:r>
                      <a:endParaRPr lang="en-PH" sz="3400" b="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lgn="just">
                        <a:buNone/>
                        <a:tabLst>
                          <a:tab pos="3917950" algn="l"/>
                        </a:tabLst>
                      </a:pPr>
                      <a:r>
                        <a:rPr lang="en-PH" sz="3400" kern="100" dirty="0">
                          <a:effectLst/>
                          <a:latin typeface="Poppins" panose="00000500000000000000" pitchFamily="2" charset="0"/>
                          <a:cs typeface="Poppins" panose="00000500000000000000" pitchFamily="2" charset="0"/>
                        </a:rPr>
                        <a:t>E. Organizes code using objects that contain data and behavior.</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1126066750"/>
                  </a:ext>
                </a:extLst>
              </a:tr>
            </a:tbl>
          </a:graphicData>
        </a:graphic>
      </p:graphicFrame>
    </p:spTree>
    <p:extLst>
      <p:ext uri="{BB962C8B-B14F-4D97-AF65-F5344CB8AC3E}">
        <p14:creationId xmlns:p14="http://schemas.microsoft.com/office/powerpoint/2010/main" val="3507996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151BC982-566A-878A-4B77-06A0B1A5D884}"/>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3087A0E2-8A7C-7063-907C-9F42D014CE99}"/>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AD12BC27-29BC-51E8-17D8-45F2922DCB24}"/>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224CE833-D5F9-17F1-5A01-8F45848A5F4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02243FEB-E9AF-0587-8FA6-B164B0765961}"/>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C88C6205-69FC-26AD-8A7F-C62D1F9FEE49}"/>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Learning Activity 2</a:t>
            </a:r>
          </a:p>
        </p:txBody>
      </p:sp>
      <p:sp>
        <p:nvSpPr>
          <p:cNvPr id="2" name="Slide Number Placeholder 5">
            <a:extLst>
              <a:ext uri="{FF2B5EF4-FFF2-40B4-BE49-F238E27FC236}">
                <a16:creationId xmlns:a16="http://schemas.microsoft.com/office/drawing/2014/main" id="{2FC534BF-904D-6FFA-1F63-BC30F8E3DA1A}"/>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graphicFrame>
        <p:nvGraphicFramePr>
          <p:cNvPr id="4" name="Table 3">
            <a:extLst>
              <a:ext uri="{FF2B5EF4-FFF2-40B4-BE49-F238E27FC236}">
                <a16:creationId xmlns:a16="http://schemas.microsoft.com/office/drawing/2014/main" id="{FC993B38-A40F-6A8C-3E21-E151B4B11C1A}"/>
              </a:ext>
            </a:extLst>
          </p:cNvPr>
          <p:cNvGraphicFramePr>
            <a:graphicFrameLocks noGrp="1"/>
          </p:cNvGraphicFramePr>
          <p:nvPr>
            <p:extLst>
              <p:ext uri="{D42A27DB-BD31-4B8C-83A1-F6EECF244321}">
                <p14:modId xmlns:p14="http://schemas.microsoft.com/office/powerpoint/2010/main" val="1973665222"/>
              </p:ext>
            </p:extLst>
          </p:nvPr>
        </p:nvGraphicFramePr>
        <p:xfrm>
          <a:off x="419596" y="1138229"/>
          <a:ext cx="17487403" cy="8895473"/>
        </p:xfrm>
        <a:graphic>
          <a:graphicData uri="http://schemas.openxmlformats.org/drawingml/2006/table">
            <a:tbl>
              <a:tblPr firstRow="1" firstCol="1" bandRow="1">
                <a:tableStyleId>{D113A9D2-9D6B-4929-AA2D-F23B5EE8CBE7}</a:tableStyleId>
              </a:tblPr>
              <a:tblGrid>
                <a:gridCol w="3168798">
                  <a:extLst>
                    <a:ext uri="{9D8B030D-6E8A-4147-A177-3AD203B41FA5}">
                      <a16:colId xmlns:a16="http://schemas.microsoft.com/office/drawing/2014/main" val="1897324759"/>
                    </a:ext>
                  </a:extLst>
                </a:gridCol>
                <a:gridCol w="916422">
                  <a:extLst>
                    <a:ext uri="{9D8B030D-6E8A-4147-A177-3AD203B41FA5}">
                      <a16:colId xmlns:a16="http://schemas.microsoft.com/office/drawing/2014/main" val="2472613483"/>
                    </a:ext>
                  </a:extLst>
                </a:gridCol>
                <a:gridCol w="13402183">
                  <a:extLst>
                    <a:ext uri="{9D8B030D-6E8A-4147-A177-3AD203B41FA5}">
                      <a16:colId xmlns:a16="http://schemas.microsoft.com/office/drawing/2014/main" val="3593514700"/>
                    </a:ext>
                  </a:extLst>
                </a:gridCol>
              </a:tblGrid>
              <a:tr h="603633">
                <a:tc gridSpan="3">
                  <a:txBody>
                    <a:bodyPr/>
                    <a:lstStyle/>
                    <a:p>
                      <a:pPr marL="0" marR="0" lvl="0" indent="0" algn="just">
                        <a:buSzPts val="1100"/>
                        <a:buFont typeface="+mj-lt"/>
                        <a:buNone/>
                      </a:pPr>
                      <a:r>
                        <a:rPr lang="en-US" sz="3400" dirty="0">
                          <a:effectLst/>
                          <a:latin typeface="Poppins" panose="00000500000000000000" pitchFamily="2" charset="0"/>
                          <a:cs typeface="Poppins" panose="00000500000000000000" pitchFamily="2" charset="0"/>
                        </a:rPr>
                        <a:t>Identification: Write the correct answer in the space provided. </a:t>
                      </a:r>
                      <a:endParaRPr lang="en-PH" sz="34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2766286709"/>
                  </a:ext>
                </a:extLst>
              </a:tr>
              <a:tr h="60363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dirty="0">
                          <a:effectLst/>
                          <a:latin typeface="Poppins" panose="00000500000000000000" pitchFamily="2" charset="0"/>
                          <a:cs typeface="Poppins" panose="00000500000000000000" pitchFamily="2" charset="0"/>
                        </a:rPr>
                        <a:t>1.</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0" marR="0" algn="l">
                        <a:lnSpc>
                          <a:spcPct val="115000"/>
                        </a:lnSpc>
                        <a:buNone/>
                      </a:pPr>
                      <a:r>
                        <a:rPr lang="en-PH" sz="3400" kern="0" dirty="0">
                          <a:effectLst/>
                          <a:latin typeface="Poppins" panose="00000500000000000000" pitchFamily="2" charset="0"/>
                          <a:cs typeface="Poppins" panose="00000500000000000000" pitchFamily="2" charset="0"/>
                        </a:rPr>
                        <a:t>Python was created by ___________________.</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2964888412"/>
                  </a:ext>
                </a:extLst>
              </a:tr>
              <a:tr h="99474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2.</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2540" marR="0" algn="l">
                        <a:buNone/>
                      </a:pPr>
                      <a:r>
                        <a:rPr lang="en-US" sz="3400" kern="0" dirty="0">
                          <a:effectLst/>
                          <a:latin typeface="Poppins" panose="00000500000000000000" pitchFamily="2" charset="0"/>
                          <a:cs typeface="Poppins" panose="00000500000000000000" pitchFamily="2" charset="0"/>
                        </a:rPr>
                        <a:t>A lightweight framework that gives developers more control and flexibility</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2611429980"/>
                  </a:ext>
                </a:extLst>
              </a:tr>
              <a:tr h="99474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dirty="0">
                          <a:effectLst/>
                          <a:latin typeface="Poppins" panose="00000500000000000000" pitchFamily="2" charset="0"/>
                          <a:cs typeface="Poppins" panose="00000500000000000000" pitchFamily="2" charset="0"/>
                        </a:rPr>
                        <a:t>3.</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0" marR="0" indent="0" algn="l">
                        <a:buNone/>
                      </a:pPr>
                      <a:r>
                        <a:rPr lang="en-US" sz="3400" kern="0" dirty="0">
                          <a:effectLst/>
                          <a:latin typeface="Poppins" panose="00000500000000000000" pitchFamily="2" charset="0"/>
                          <a:cs typeface="Poppins" panose="00000500000000000000" pitchFamily="2" charset="0"/>
                        </a:rPr>
                        <a:t>Python executes code line by line which makes it a/an ____________ language.</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4119067385"/>
                  </a:ext>
                </a:extLst>
              </a:tr>
              <a:tr h="60363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4.</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l">
                        <a:buNone/>
                      </a:pPr>
                      <a:r>
                        <a:rPr lang="en-US" sz="3400" kern="0" dirty="0">
                          <a:effectLst/>
                          <a:latin typeface="Poppins" panose="00000500000000000000" pitchFamily="2" charset="0"/>
                          <a:cs typeface="Poppins" panose="00000500000000000000" pitchFamily="2" charset="0"/>
                        </a:rPr>
                        <a:t>It is used for numerical computing and array manipulation.</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3621298853"/>
                  </a:ext>
                </a:extLst>
              </a:tr>
              <a:tr h="99474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5.</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0" marR="0" indent="0" algn="l">
                        <a:buNone/>
                      </a:pPr>
                      <a:r>
                        <a:rPr lang="en-US" sz="3400" kern="0" dirty="0">
                          <a:effectLst/>
                          <a:latin typeface="Poppins" panose="00000500000000000000" pitchFamily="2" charset="0"/>
                          <a:cs typeface="Poppins" panose="00000500000000000000" pitchFamily="2" charset="0"/>
                        </a:rPr>
                        <a:t>It </a:t>
                      </a:r>
                      <a:r>
                        <a:rPr lang="en-PH" sz="3400" kern="0" dirty="0">
                          <a:effectLst/>
                          <a:latin typeface="Poppins" panose="00000500000000000000" pitchFamily="2" charset="0"/>
                          <a:cs typeface="Poppins" panose="00000500000000000000" pitchFamily="2" charset="0"/>
                        </a:rPr>
                        <a:t>would be most useful for creating graphs and visualizations.</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3026440429"/>
                  </a:ext>
                </a:extLst>
              </a:tr>
              <a:tr h="60363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6.</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l">
                        <a:buNone/>
                      </a:pPr>
                      <a:r>
                        <a:rPr lang="en-US" sz="3400" kern="0" dirty="0">
                          <a:effectLst/>
                          <a:latin typeface="Poppins" panose="00000500000000000000" pitchFamily="2" charset="0"/>
                          <a:cs typeface="Poppins" panose="00000500000000000000" pitchFamily="2" charset="0"/>
                        </a:rPr>
                        <a:t>True or False: </a:t>
                      </a:r>
                      <a:r>
                        <a:rPr lang="en-PH" sz="3400" kern="0" dirty="0">
                          <a:effectLst/>
                          <a:latin typeface="Poppins" panose="00000500000000000000" pitchFamily="2" charset="0"/>
                          <a:cs typeface="Poppins" panose="00000500000000000000" pitchFamily="2" charset="0"/>
                        </a:rPr>
                        <a:t>Variable types are assigned at runtime.</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4025543725"/>
                  </a:ext>
                </a:extLst>
              </a:tr>
              <a:tr h="99474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7.</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2540" marR="0" indent="-2540" algn="l">
                        <a:buNone/>
                      </a:pPr>
                      <a:r>
                        <a:rPr lang="en-US" sz="3400" kern="0" dirty="0">
                          <a:effectLst/>
                          <a:latin typeface="Poppins" panose="00000500000000000000" pitchFamily="2" charset="0"/>
                          <a:cs typeface="Poppins" panose="00000500000000000000" pitchFamily="2" charset="0"/>
                        </a:rPr>
                        <a:t>True or False: </a:t>
                      </a:r>
                      <a:r>
                        <a:rPr lang="en-PH" sz="3400" kern="0" dirty="0">
                          <a:effectLst/>
                          <a:latin typeface="Poppins" panose="00000500000000000000" pitchFamily="2" charset="0"/>
                          <a:cs typeface="Poppins" panose="00000500000000000000" pitchFamily="2" charset="0"/>
                        </a:rPr>
                        <a:t>High-level languages allow writing programs closer to machine language</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3387625594"/>
                  </a:ext>
                </a:extLst>
              </a:tr>
              <a:tr h="60363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8.</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l">
                        <a:buNone/>
                      </a:pPr>
                      <a:r>
                        <a:rPr lang="en-US" sz="3400" kern="0" dirty="0">
                          <a:effectLst/>
                          <a:latin typeface="Poppins" panose="00000500000000000000" pitchFamily="2" charset="0"/>
                          <a:cs typeface="Poppins" panose="00000500000000000000" pitchFamily="2" charset="0"/>
                        </a:rPr>
                        <a:t>True or False: </a:t>
                      </a:r>
                      <a:r>
                        <a:rPr lang="en-PH" sz="3400" kern="0" dirty="0">
                          <a:effectLst/>
                          <a:latin typeface="Poppins" panose="00000500000000000000" pitchFamily="2" charset="0"/>
                          <a:cs typeface="Poppins" panose="00000500000000000000" pitchFamily="2" charset="0"/>
                        </a:rPr>
                        <a:t>Python is a statically typed language.</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1856244258"/>
                  </a:ext>
                </a:extLst>
              </a:tr>
              <a:tr h="99474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9.</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0" marR="0" indent="0" algn="l">
                        <a:buNone/>
                      </a:pPr>
                      <a:r>
                        <a:rPr lang="en-US" sz="3400" kern="0" dirty="0">
                          <a:effectLst/>
                          <a:latin typeface="Poppins" panose="00000500000000000000" pitchFamily="2" charset="0"/>
                          <a:cs typeface="Poppins" panose="00000500000000000000" pitchFamily="2" charset="0"/>
                        </a:rPr>
                        <a:t>True or False: Python supports multiple programming paradigms.</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1327336752"/>
                  </a:ext>
                </a:extLst>
              </a:tr>
              <a:tr h="603633">
                <a:tc>
                  <a:txBody>
                    <a:bodyPr/>
                    <a:lstStyle/>
                    <a:p>
                      <a:pPr marL="1758315" marR="0" indent="-1758315" algn="just">
                        <a:buNone/>
                      </a:pPr>
                      <a:endParaRPr lang="en-PH" sz="3400" b="0" kern="100" dirty="0">
                        <a:solidFill>
                          <a:schemeClr val="bg1"/>
                        </a:solidFill>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just">
                        <a:buNone/>
                      </a:pPr>
                      <a:r>
                        <a:rPr lang="en-US" sz="3400" kern="0">
                          <a:effectLst/>
                          <a:latin typeface="Poppins" panose="00000500000000000000" pitchFamily="2" charset="0"/>
                          <a:cs typeface="Poppins" panose="00000500000000000000" pitchFamily="2" charset="0"/>
                        </a:rPr>
                        <a:t>10.</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tc>
                  <a:txBody>
                    <a:bodyPr/>
                    <a:lstStyle/>
                    <a:p>
                      <a:pPr marL="1758315" marR="0" indent="-1758315" algn="l">
                        <a:buNone/>
                      </a:pPr>
                      <a:r>
                        <a:rPr lang="en-PH" sz="3400" kern="0" dirty="0">
                          <a:effectLst/>
                          <a:latin typeface="Poppins" panose="00000500000000000000" pitchFamily="2" charset="0"/>
                          <a:cs typeface="Poppins" panose="00000500000000000000" pitchFamily="2" charset="0"/>
                        </a:rPr>
                        <a:t>Flask is used for data visualization.</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68580" marR="68580" marT="0" marB="18415" anchor="ctr"/>
                </a:tc>
                <a:extLst>
                  <a:ext uri="{0D108BD9-81ED-4DB2-BD59-A6C34878D82A}">
                    <a16:rowId xmlns:a16="http://schemas.microsoft.com/office/drawing/2014/main" val="3601158491"/>
                  </a:ext>
                </a:extLst>
              </a:tr>
            </a:tbl>
          </a:graphicData>
        </a:graphic>
      </p:graphicFrame>
      <p:sp>
        <p:nvSpPr>
          <p:cNvPr id="5" name="Rectangle 4">
            <a:extLst>
              <a:ext uri="{FF2B5EF4-FFF2-40B4-BE49-F238E27FC236}">
                <a16:creationId xmlns:a16="http://schemas.microsoft.com/office/drawing/2014/main" id="{C0B48C76-D123-DDF0-0621-C336AC396A8B}"/>
              </a:ext>
            </a:extLst>
          </p:cNvPr>
          <p:cNvSpPr/>
          <p:nvPr/>
        </p:nvSpPr>
        <p:spPr>
          <a:xfrm>
            <a:off x="414054" y="1251125"/>
            <a:ext cx="4419600" cy="892157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lnSpc>
                <a:spcPts val="6000"/>
              </a:lnSpc>
            </a:pPr>
            <a:r>
              <a:rPr lang="en-US" sz="2500" dirty="0">
                <a:solidFill>
                  <a:schemeClr val="bg1"/>
                </a:solidFill>
                <a:latin typeface="Poppins" panose="00000500000000000000" pitchFamily="2" charset="0"/>
                <a:cs typeface="Poppins" panose="00000500000000000000" pitchFamily="2" charset="0"/>
              </a:rPr>
              <a:t>Guido van Rossum</a:t>
            </a:r>
            <a:endParaRPr lang="en-PH" sz="25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Flask</a:t>
            </a:r>
            <a:endParaRPr lang="en-PH" sz="2500" dirty="0">
              <a:solidFill>
                <a:schemeClr val="bg1"/>
              </a:solidFill>
              <a:latin typeface="Poppins" panose="00000500000000000000" pitchFamily="2" charset="0"/>
              <a:cs typeface="Poppins" panose="00000500000000000000" pitchFamily="2" charset="0"/>
            </a:endParaRPr>
          </a:p>
          <a:p>
            <a:pPr fontAlgn="ctr"/>
            <a:endParaRPr lang="en-US" sz="11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interpreted</a:t>
            </a:r>
            <a:endParaRPr lang="en-PH" sz="2500" dirty="0">
              <a:solidFill>
                <a:schemeClr val="bg1"/>
              </a:solidFill>
              <a:latin typeface="Poppins" panose="00000500000000000000" pitchFamily="2" charset="0"/>
              <a:cs typeface="Poppins" panose="00000500000000000000" pitchFamily="2" charset="0"/>
            </a:endParaRPr>
          </a:p>
          <a:p>
            <a:pPr fontAlgn="ctr"/>
            <a:endParaRPr lang="en-US" sz="10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NumPy</a:t>
            </a:r>
          </a:p>
          <a:p>
            <a:pPr fontAlgn="ctr"/>
            <a:endParaRPr lang="en-PH" sz="5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Matplotlib</a:t>
            </a:r>
            <a:endParaRPr lang="en-PH" sz="2500" dirty="0">
              <a:solidFill>
                <a:schemeClr val="bg1"/>
              </a:solidFill>
              <a:latin typeface="Poppins" panose="00000500000000000000" pitchFamily="2" charset="0"/>
              <a:cs typeface="Poppins" panose="00000500000000000000" pitchFamily="2" charset="0"/>
            </a:endParaRPr>
          </a:p>
          <a:p>
            <a:pPr fontAlgn="ctr"/>
            <a:endParaRPr lang="en-US" sz="500" dirty="0">
              <a:solidFill>
                <a:schemeClr val="bg1"/>
              </a:solidFill>
              <a:latin typeface="Poppins" panose="00000500000000000000" pitchFamily="2" charset="0"/>
              <a:cs typeface="Poppins" panose="00000500000000000000" pitchFamily="2" charset="0"/>
            </a:endParaRPr>
          </a:p>
          <a:p>
            <a:pPr fontAlgn="ctr"/>
            <a:endParaRPr lang="en-US" sz="5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True</a:t>
            </a:r>
            <a:endParaRPr lang="en-PH" sz="25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False</a:t>
            </a:r>
            <a:endParaRPr lang="en-PH" sz="25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False</a:t>
            </a:r>
            <a:endParaRPr lang="en-PH" sz="25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True</a:t>
            </a:r>
          </a:p>
          <a:p>
            <a:pPr fontAlgn="ctr"/>
            <a:endParaRPr lang="en-PH" sz="1100" dirty="0">
              <a:solidFill>
                <a:schemeClr val="bg1"/>
              </a:solidFill>
              <a:latin typeface="Poppins" panose="00000500000000000000" pitchFamily="2" charset="0"/>
              <a:cs typeface="Poppins" panose="00000500000000000000" pitchFamily="2" charset="0"/>
            </a:endParaRPr>
          </a:p>
          <a:p>
            <a:pPr fontAlgn="ctr">
              <a:lnSpc>
                <a:spcPts val="6000"/>
              </a:lnSpc>
            </a:pPr>
            <a:r>
              <a:rPr lang="en-US" sz="2500" dirty="0">
                <a:solidFill>
                  <a:schemeClr val="bg1"/>
                </a:solidFill>
                <a:latin typeface="Poppins" panose="00000500000000000000" pitchFamily="2" charset="0"/>
                <a:cs typeface="Poppins" panose="00000500000000000000" pitchFamily="2" charset="0"/>
              </a:rPr>
              <a:t>False</a:t>
            </a:r>
            <a:endParaRPr lang="en-PH" sz="2500"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65597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13" end="1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F211198E-A2DA-836F-B7C9-81FEED9F7CD1}"/>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D96830B2-842D-43BB-9078-BF407DCD051E}"/>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F4F366C0-0896-2A89-A518-F22B09873E4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489D1ACC-79FE-68DA-BE73-880D41828D5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52848FFB-4198-ADC3-3E57-FA1F5EF6B4EB}"/>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E48199C8-029B-DB14-7584-8C1070F53A5C}"/>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Why Learn Python</a:t>
            </a:r>
          </a:p>
        </p:txBody>
      </p:sp>
      <p:sp>
        <p:nvSpPr>
          <p:cNvPr id="7" name="Google Shape;103;p15">
            <a:extLst>
              <a:ext uri="{FF2B5EF4-FFF2-40B4-BE49-F238E27FC236}">
                <a16:creationId xmlns:a16="http://schemas.microsoft.com/office/drawing/2014/main" id="{E01FD38F-CB36-2D05-FF00-062198209360}"/>
              </a:ext>
            </a:extLst>
          </p:cNvPr>
          <p:cNvSpPr txBox="1"/>
          <p:nvPr/>
        </p:nvSpPr>
        <p:spPr>
          <a:xfrm>
            <a:off x="304800" y="1257300"/>
            <a:ext cx="17654587" cy="810991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Python </a:t>
            </a:r>
            <a:r>
              <a:rPr lang="en-US" sz="3400" dirty="0">
                <a:solidFill>
                  <a:srgbClr val="002060"/>
                </a:solidFill>
                <a:latin typeface="Poppins" panose="00000500000000000000" pitchFamily="2" charset="0"/>
                <a:ea typeface="Lato"/>
                <a:cs typeface="Poppins" panose="00000500000000000000" pitchFamily="2" charset="0"/>
                <a:sym typeface="Lato"/>
              </a:rPr>
              <a:t>has become one of the most popular programming languages in the world and not just by chance. Here are the reasons why:</a:t>
            </a:r>
          </a:p>
          <a:p>
            <a:pPr algn="just"/>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1. Beginner-friendly</a:t>
            </a:r>
            <a:r>
              <a:rPr lang="en-US" sz="3400" dirty="0">
                <a:solidFill>
                  <a:srgbClr val="002060"/>
                </a:solidFill>
                <a:latin typeface="Poppins" panose="00000500000000000000" pitchFamily="2" charset="0"/>
                <a:ea typeface="Lato"/>
                <a:cs typeface="Poppins" panose="00000500000000000000" pitchFamily="2" charset="0"/>
                <a:sym typeface="Lato"/>
              </a:rPr>
              <a:t> - Python is known for its clear and readable syntax. You don’t need to memorize complex rules or structures just to write your first program. It reads almost like English, making it easier to understand what each line of code does.</a:t>
            </a:r>
          </a:p>
          <a:p>
            <a:pPr algn="just"/>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For example: Python simply executes the command and prints the message. No semicolons, no class definitions, no main() function required.</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459A1990-BE25-10E5-D559-9A1E84CCDBD8}"/>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3" name="Picture 2" descr="A grey background with yellow text&#10;&#10;AI-generated content may be incorrect.">
            <a:extLst>
              <a:ext uri="{FF2B5EF4-FFF2-40B4-BE49-F238E27FC236}">
                <a16:creationId xmlns:a16="http://schemas.microsoft.com/office/drawing/2014/main" id="{4018CCA1-8F16-400A-CEF2-0531126756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8668564"/>
            <a:ext cx="8294863" cy="1174425"/>
          </a:xfrm>
          <a:prstGeom prst="rect">
            <a:avLst/>
          </a:prstGeom>
        </p:spPr>
      </p:pic>
    </p:spTree>
    <p:extLst>
      <p:ext uri="{BB962C8B-B14F-4D97-AF65-F5344CB8AC3E}">
        <p14:creationId xmlns:p14="http://schemas.microsoft.com/office/powerpoint/2010/main" val="153927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9CE976C1-09C5-ECED-651E-392DACA6061F}"/>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3F5A82C8-5FEB-2C9A-1A59-D027EADB4355}"/>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36F4AE0F-2050-DFED-FF87-02B142F3982B}"/>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0A98A1EF-ED1B-AA64-6E12-C2A911E7214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D00A22F9-ACCB-7A5B-6E31-BC9834CCCE6E}"/>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2380CFAF-A094-4A16-01FF-6C69FA73F15F}"/>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Why Learn Python</a:t>
            </a:r>
          </a:p>
        </p:txBody>
      </p:sp>
      <p:sp>
        <p:nvSpPr>
          <p:cNvPr id="7" name="Google Shape;103;p15">
            <a:extLst>
              <a:ext uri="{FF2B5EF4-FFF2-40B4-BE49-F238E27FC236}">
                <a16:creationId xmlns:a16="http://schemas.microsoft.com/office/drawing/2014/main" id="{6462C74C-F33E-DADB-C47F-0018ED6DD230}"/>
              </a:ext>
            </a:extLst>
          </p:cNvPr>
          <p:cNvSpPr txBox="1"/>
          <p:nvPr/>
        </p:nvSpPr>
        <p:spPr>
          <a:xfrm>
            <a:off x="304800" y="1257300"/>
            <a:ext cx="17654587" cy="3662541"/>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2. Fast Learning Curve </a:t>
            </a:r>
            <a:r>
              <a:rPr lang="en-US" sz="3400" dirty="0">
                <a:solidFill>
                  <a:srgbClr val="002060"/>
                </a:solidFill>
                <a:latin typeface="Poppins" panose="00000500000000000000" pitchFamily="2" charset="0"/>
                <a:ea typeface="Lato"/>
                <a:cs typeface="Poppins" panose="00000500000000000000" pitchFamily="2" charset="0"/>
                <a:sym typeface="Lato"/>
              </a:rPr>
              <a:t>- Python is so readable and intuitive where beginners can pick it up faster than other programming languages. </a:t>
            </a:r>
          </a:p>
          <a:p>
            <a:pPr algn="just"/>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For example, instead of writing 6-10 lines of code to calculate the average of three numbers, python lessen it since there are no more data type declarations: </a:t>
            </a:r>
          </a:p>
        </p:txBody>
      </p:sp>
      <p:sp>
        <p:nvSpPr>
          <p:cNvPr id="2" name="Slide Number Placeholder 5">
            <a:extLst>
              <a:ext uri="{FF2B5EF4-FFF2-40B4-BE49-F238E27FC236}">
                <a16:creationId xmlns:a16="http://schemas.microsoft.com/office/drawing/2014/main" id="{48F6CD1C-B572-ECB3-50DE-3F359737712A}"/>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4" name="Picture 3" descr="A black background with numbers and text&#10;&#10;AI-generated content may be incorrect.">
            <a:extLst>
              <a:ext uri="{FF2B5EF4-FFF2-40B4-BE49-F238E27FC236}">
                <a16:creationId xmlns:a16="http://schemas.microsoft.com/office/drawing/2014/main" id="{428A8652-76E0-D0B2-7386-35D4A58593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5088935"/>
            <a:ext cx="9374811" cy="2569165"/>
          </a:xfrm>
          <a:prstGeom prst="rect">
            <a:avLst/>
          </a:prstGeom>
        </p:spPr>
      </p:pic>
    </p:spTree>
    <p:extLst>
      <p:ext uri="{BB962C8B-B14F-4D97-AF65-F5344CB8AC3E}">
        <p14:creationId xmlns:p14="http://schemas.microsoft.com/office/powerpoint/2010/main" val="2737143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1C867ED1-9841-3700-3251-C5D349442A50}"/>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281BDA67-4CB0-3FA8-19D9-D9B521D633B6}"/>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DC29BA38-D7EF-AC2F-3CB1-6229DA014E8C}"/>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30FE6CD1-97E4-5FA7-058A-2441E07E13CC}"/>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CCDC165E-8A15-1345-8706-4CCE291633DD}"/>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90C9C211-D4B0-468A-69BC-9FDE1C90DF0C}"/>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Why Learn Python</a:t>
            </a:r>
          </a:p>
        </p:txBody>
      </p:sp>
      <p:sp>
        <p:nvSpPr>
          <p:cNvPr id="7" name="Google Shape;103;p15">
            <a:extLst>
              <a:ext uri="{FF2B5EF4-FFF2-40B4-BE49-F238E27FC236}">
                <a16:creationId xmlns:a16="http://schemas.microsoft.com/office/drawing/2014/main" id="{21F48C57-7D3C-BB2F-7F7A-7CC1C1F69485}"/>
              </a:ext>
            </a:extLst>
          </p:cNvPr>
          <p:cNvSpPr txBox="1"/>
          <p:nvPr/>
        </p:nvSpPr>
        <p:spPr>
          <a:xfrm>
            <a:off x="304800" y="1257300"/>
            <a:ext cx="17654587" cy="6463308"/>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3. Free and Open-source </a:t>
            </a:r>
            <a:r>
              <a:rPr lang="en-US" sz="3400" dirty="0">
                <a:solidFill>
                  <a:srgbClr val="002060"/>
                </a:solidFill>
                <a:latin typeface="Poppins" panose="00000500000000000000" pitchFamily="2" charset="0"/>
                <a:ea typeface="Lato"/>
                <a:cs typeface="Poppins" panose="00000500000000000000" pitchFamily="2" charset="0"/>
                <a:sym typeface="Lato"/>
              </a:rPr>
              <a:t>- Python is 100% free to use. You don’t need to pay for a license or subscription, and it’s available for Windows, macOS, and Linux. So, if anyone wants to build a data dashboard, they can freely use libraries like pandas and matplotlib.</a:t>
            </a:r>
          </a:p>
          <a:p>
            <a:pPr algn="just"/>
            <a:endParaRPr lang="en-US" sz="12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4. Versatile and Flexible -</a:t>
            </a:r>
            <a:r>
              <a:rPr lang="en-US" sz="3400" dirty="0">
                <a:solidFill>
                  <a:srgbClr val="002060"/>
                </a:solidFill>
                <a:latin typeface="Poppins" panose="00000500000000000000" pitchFamily="2" charset="0"/>
                <a:ea typeface="Lato"/>
                <a:cs typeface="Poppins" panose="00000500000000000000" pitchFamily="2" charset="0"/>
                <a:sym typeface="Lato"/>
              </a:rPr>
              <a:t> Python can be used in a wide range of fields, making it a flexible language for different interests and career paths. </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Whether you're a future web developer, data analyst, scientist, or game designer, Python has tools for you.</a:t>
            </a:r>
          </a:p>
        </p:txBody>
      </p:sp>
      <p:sp>
        <p:nvSpPr>
          <p:cNvPr id="2" name="Slide Number Placeholder 5">
            <a:extLst>
              <a:ext uri="{FF2B5EF4-FFF2-40B4-BE49-F238E27FC236}">
                <a16:creationId xmlns:a16="http://schemas.microsoft.com/office/drawing/2014/main" id="{9D32A79B-6F60-9D68-E27F-9550C7C94EE4}"/>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
        <p:nvSpPr>
          <p:cNvPr id="3" name="Google Shape;103;p15">
            <a:extLst>
              <a:ext uri="{FF2B5EF4-FFF2-40B4-BE49-F238E27FC236}">
                <a16:creationId xmlns:a16="http://schemas.microsoft.com/office/drawing/2014/main" id="{82B2F8F7-E5C1-2D1E-14A6-3944B502B45B}"/>
              </a:ext>
            </a:extLst>
          </p:cNvPr>
          <p:cNvSpPr txBox="1"/>
          <p:nvPr/>
        </p:nvSpPr>
        <p:spPr>
          <a:xfrm>
            <a:off x="304801" y="7581900"/>
            <a:ext cx="17654587" cy="3139321"/>
          </a:xfrm>
          <a:prstGeom prst="rect">
            <a:avLst/>
          </a:prstGeom>
          <a:noFill/>
          <a:ln>
            <a:noFill/>
          </a:ln>
        </p:spPr>
        <p:txBody>
          <a:bodyPr spcFirstLastPara="1" wrap="square" lIns="0" tIns="0" rIns="0" bIns="0" numCol="2" anchor="t" anchorCtr="0">
            <a:spAutoFit/>
          </a:bodyPr>
          <a:lstStyle/>
          <a:p>
            <a:pPr marL="457200" indent="-457200">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Web apps using Django or Flask</a:t>
            </a:r>
          </a:p>
          <a:p>
            <a:pPr marL="457200" indent="-457200">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Data science using NumPy and pandas</a:t>
            </a:r>
          </a:p>
          <a:p>
            <a:pPr>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marL="457200" indent="-457200">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ML using scikit-learn or TensorFlow</a:t>
            </a:r>
          </a:p>
          <a:p>
            <a:pPr marL="457200" indent="-457200">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Games using </a:t>
            </a:r>
            <a:r>
              <a:rPr lang="en-US" sz="3400" dirty="0" err="1">
                <a:solidFill>
                  <a:srgbClr val="002060"/>
                </a:solidFill>
                <a:latin typeface="Poppins" panose="00000500000000000000" pitchFamily="2" charset="0"/>
                <a:ea typeface="Lato"/>
                <a:cs typeface="Poppins" panose="00000500000000000000" pitchFamily="2" charset="0"/>
                <a:sym typeface="Lato"/>
              </a:rPr>
              <a:t>Pygame</a:t>
            </a:r>
            <a:endParaRPr lang="en-US" sz="3400" dirty="0">
              <a:solidFill>
                <a:srgbClr val="002060"/>
              </a:solidFill>
              <a:latin typeface="Poppins" panose="00000500000000000000" pitchFamily="2" charset="0"/>
              <a:ea typeface="Lato"/>
              <a:cs typeface="Poppins" panose="00000500000000000000" pitchFamily="2" charset="0"/>
              <a:sym typeface="Lato"/>
            </a:endParaRPr>
          </a:p>
          <a:p>
            <a:pPr marL="457200" indent="-457200">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Automation using scripts</a:t>
            </a:r>
          </a:p>
        </p:txBody>
      </p:sp>
    </p:spTree>
    <p:extLst>
      <p:ext uri="{BB962C8B-B14F-4D97-AF65-F5344CB8AC3E}">
        <p14:creationId xmlns:p14="http://schemas.microsoft.com/office/powerpoint/2010/main" val="2006921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780C96B5-AC29-A0CE-480E-202E2AA7188A}"/>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3AA58EF5-0E98-6509-3904-FB228EF83B50}"/>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20FFA64E-1CB0-0E1F-1D0F-FADF171CC1C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5A0F3E1B-B0F7-A8C4-9A17-5A7DCE3885B7}"/>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69425736-2D7A-A7EF-BCA9-7ACB9D98ECA0}"/>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E8F48277-C513-6005-EE34-A8B594298CEB}"/>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How python become popular?</a:t>
            </a:r>
          </a:p>
        </p:txBody>
      </p:sp>
      <p:sp>
        <p:nvSpPr>
          <p:cNvPr id="2" name="Slide Number Placeholder 5">
            <a:extLst>
              <a:ext uri="{FF2B5EF4-FFF2-40B4-BE49-F238E27FC236}">
                <a16:creationId xmlns:a16="http://schemas.microsoft.com/office/drawing/2014/main" id="{90BDDDEC-B2B2-4142-5B54-C83D632084A7}"/>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graphicFrame>
        <p:nvGraphicFramePr>
          <p:cNvPr id="5" name="Table 4">
            <a:extLst>
              <a:ext uri="{FF2B5EF4-FFF2-40B4-BE49-F238E27FC236}">
                <a16:creationId xmlns:a16="http://schemas.microsoft.com/office/drawing/2014/main" id="{8C589772-566F-888F-5C0A-03C9EADBC99A}"/>
              </a:ext>
            </a:extLst>
          </p:cNvPr>
          <p:cNvGraphicFramePr>
            <a:graphicFrameLocks noGrp="1"/>
          </p:cNvGraphicFramePr>
          <p:nvPr>
            <p:extLst>
              <p:ext uri="{D42A27DB-BD31-4B8C-83A1-F6EECF244321}">
                <p14:modId xmlns:p14="http://schemas.microsoft.com/office/powerpoint/2010/main" val="3057433110"/>
              </p:ext>
            </p:extLst>
          </p:nvPr>
        </p:nvGraphicFramePr>
        <p:xfrm>
          <a:off x="304800" y="1163747"/>
          <a:ext cx="17754600" cy="8761913"/>
        </p:xfrm>
        <a:graphic>
          <a:graphicData uri="http://schemas.openxmlformats.org/drawingml/2006/table">
            <a:tbl>
              <a:tblPr firstRow="1" firstCol="1" bandRow="1">
                <a:tableStyleId>{D113A9D2-9D6B-4929-AA2D-F23B5EE8CBE7}</a:tableStyleId>
              </a:tblPr>
              <a:tblGrid>
                <a:gridCol w="4929565">
                  <a:extLst>
                    <a:ext uri="{9D8B030D-6E8A-4147-A177-3AD203B41FA5}">
                      <a16:colId xmlns:a16="http://schemas.microsoft.com/office/drawing/2014/main" val="3774937782"/>
                    </a:ext>
                  </a:extLst>
                </a:gridCol>
                <a:gridCol w="12825035">
                  <a:extLst>
                    <a:ext uri="{9D8B030D-6E8A-4147-A177-3AD203B41FA5}">
                      <a16:colId xmlns:a16="http://schemas.microsoft.com/office/drawing/2014/main" val="783962178"/>
                    </a:ext>
                  </a:extLst>
                </a:gridCol>
              </a:tblGrid>
              <a:tr h="793924">
                <a:tc>
                  <a:txBody>
                    <a:bodyPr/>
                    <a:lstStyle/>
                    <a:p>
                      <a:pPr marL="0" marR="0" algn="ctr">
                        <a:buNone/>
                        <a:tabLst>
                          <a:tab pos="3917950" algn="l"/>
                        </a:tabLst>
                      </a:pPr>
                      <a:r>
                        <a:rPr lang="en-PH" sz="3400" kern="100">
                          <a:effectLst/>
                          <a:latin typeface="Poppins" panose="00000500000000000000" pitchFamily="2" charset="0"/>
                          <a:cs typeface="Poppins" panose="00000500000000000000" pitchFamily="2" charset="0"/>
                        </a:rPr>
                        <a:t>Characteristic</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0" marR="0" algn="ctr">
                        <a:buNone/>
                        <a:tabLst>
                          <a:tab pos="3917950" algn="l"/>
                        </a:tabLst>
                      </a:pPr>
                      <a:r>
                        <a:rPr lang="en-PH" sz="3400" kern="100">
                          <a:effectLst/>
                          <a:latin typeface="Poppins" panose="00000500000000000000" pitchFamily="2" charset="0"/>
                          <a:cs typeface="Poppins" panose="00000500000000000000" pitchFamily="2" charset="0"/>
                        </a:rPr>
                        <a:t>How It Helps</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2762321476"/>
                  </a:ext>
                </a:extLst>
              </a:tr>
              <a:tr h="1161763">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Simple syntax</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Makes code easier to read, write, and maintain even for beginners.</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2384007060"/>
                  </a:ext>
                </a:extLst>
              </a:tr>
              <a:tr h="1506835">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Interpreted language</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buNone/>
                        <a:tabLst>
                          <a:tab pos="3917950" algn="l"/>
                        </a:tabLst>
                      </a:pPr>
                      <a:r>
                        <a:rPr lang="en-PH" sz="3400" kern="100" dirty="0">
                          <a:effectLst/>
                          <a:latin typeface="Poppins" panose="00000500000000000000" pitchFamily="2" charset="0"/>
                          <a:cs typeface="Poppins" panose="00000500000000000000" pitchFamily="2" charset="0"/>
                        </a:rPr>
                        <a:t>It can run code directly without compiling, which speeds up testing and learning.</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2669822238"/>
                  </a:ext>
                </a:extLst>
              </a:tr>
              <a:tr h="1161763">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Dynamic typing</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buNone/>
                        <a:tabLst>
                          <a:tab pos="3917950" algn="l"/>
                        </a:tabLst>
                      </a:pPr>
                      <a:r>
                        <a:rPr lang="en-PH" sz="3400" kern="100" dirty="0">
                          <a:effectLst/>
                          <a:latin typeface="Poppins" panose="00000500000000000000" pitchFamily="2" charset="0"/>
                          <a:cs typeface="Poppins" panose="00000500000000000000" pitchFamily="2" charset="0"/>
                        </a:rPr>
                        <a:t>It doesn’t need to declare variable types, allowing quicker development.</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2232324583"/>
                  </a:ext>
                </a:extLst>
              </a:tr>
              <a:tr h="1161763">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Large standard library</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Includes built-in tools for math, file handling, web access, and more.</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122799609"/>
                  </a:ext>
                </a:extLst>
              </a:tr>
              <a:tr h="1469030">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Cross-platform</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Python works on Windows, macOS, and Linux without major code changes.</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3095922771"/>
                  </a:ext>
                </a:extLst>
              </a:tr>
              <a:tr h="1506835">
                <a:tc>
                  <a:txBody>
                    <a:bodyPr/>
                    <a:lstStyle/>
                    <a:p>
                      <a:pPr marL="457200" marR="0" lvl="1">
                        <a:buNone/>
                        <a:tabLst>
                          <a:tab pos="3917950" algn="l"/>
                        </a:tabLst>
                      </a:pPr>
                      <a:r>
                        <a:rPr lang="en-PH" sz="3400" kern="100">
                          <a:effectLst/>
                          <a:latin typeface="Poppins" panose="00000500000000000000" pitchFamily="2" charset="0"/>
                          <a:cs typeface="Poppins" panose="00000500000000000000" pitchFamily="2" charset="0"/>
                        </a:rPr>
                        <a:t>Community support</a:t>
                      </a:r>
                      <a:endParaRPr lang="en-PH" sz="3400" kern="10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tc>
                  <a:txBody>
                    <a:bodyPr/>
                    <a:lstStyle/>
                    <a:p>
                      <a:pPr marL="457200" marR="0" lvl="1">
                        <a:buNone/>
                        <a:tabLst>
                          <a:tab pos="3917950" algn="l"/>
                        </a:tabLst>
                      </a:pPr>
                      <a:r>
                        <a:rPr lang="en-PH" sz="3400" kern="100" dirty="0">
                          <a:effectLst/>
                          <a:latin typeface="Poppins" panose="00000500000000000000" pitchFamily="2" charset="0"/>
                          <a:cs typeface="Poppins" panose="00000500000000000000" pitchFamily="2" charset="0"/>
                        </a:rPr>
                        <a:t>Millions of developers contribute solutions and tools that make your work easier.</a:t>
                      </a:r>
                      <a:endParaRPr lang="en-PH" sz="3400" kern="100" dirty="0">
                        <a:effectLst/>
                        <a:latin typeface="Poppins" panose="00000500000000000000" pitchFamily="2" charset="0"/>
                        <a:ea typeface="Aptos" panose="020B0004020202020204" pitchFamily="34" charset="0"/>
                        <a:cs typeface="Poppins" panose="00000500000000000000" pitchFamily="2" charset="0"/>
                      </a:endParaRPr>
                    </a:p>
                  </a:txBody>
                  <a:tcPr marL="9525" marR="9525" marT="9525" marB="9525" anchor="ctr"/>
                </a:tc>
                <a:extLst>
                  <a:ext uri="{0D108BD9-81ED-4DB2-BD59-A6C34878D82A}">
                    <a16:rowId xmlns:a16="http://schemas.microsoft.com/office/drawing/2014/main" val="1175793891"/>
                  </a:ext>
                </a:extLst>
              </a:tr>
            </a:tbl>
          </a:graphicData>
        </a:graphic>
      </p:graphicFrame>
    </p:spTree>
    <p:extLst>
      <p:ext uri="{BB962C8B-B14F-4D97-AF65-F5344CB8AC3E}">
        <p14:creationId xmlns:p14="http://schemas.microsoft.com/office/powerpoint/2010/main" val="188151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9BE8DB38-E4AF-9AB5-D2E6-25406CCD995F}"/>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2F1BC49F-3AB3-D3B0-04D8-20525EEB1075}"/>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41F62E48-7B5E-DC7A-284D-69F41FE22E93}"/>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46941D6B-D705-F789-6C90-293CB0E4CCD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48633D3A-EF99-9552-A175-0F4BF5E8764D}"/>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77F23E9D-26BE-A949-70C0-793417FA6732}"/>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Implementation of Python Environment</a:t>
            </a:r>
          </a:p>
        </p:txBody>
      </p:sp>
      <p:sp>
        <p:nvSpPr>
          <p:cNvPr id="7" name="Google Shape;103;p15">
            <a:extLst>
              <a:ext uri="{FF2B5EF4-FFF2-40B4-BE49-F238E27FC236}">
                <a16:creationId xmlns:a16="http://schemas.microsoft.com/office/drawing/2014/main" id="{DC6E6A82-F3A8-2CF2-C316-FFD542694FB9}"/>
              </a:ext>
            </a:extLst>
          </p:cNvPr>
          <p:cNvSpPr txBox="1"/>
          <p:nvPr/>
        </p:nvSpPr>
        <p:spPr>
          <a:xfrm>
            <a:off x="304800" y="1257300"/>
            <a:ext cx="17654587" cy="7848302"/>
          </a:xfrm>
          <a:prstGeom prst="rect">
            <a:avLst/>
          </a:prstGeom>
          <a:noFill/>
          <a:ln>
            <a:noFill/>
          </a:ln>
        </p:spPr>
        <p:txBody>
          <a:bodyPr spcFirstLastPara="1" wrap="square" lIns="0" tIns="0" rIns="0" bIns="0" anchor="t" anchorCtr="0">
            <a:spAutoFit/>
          </a:bodyPr>
          <a:lstStyle/>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Before writing any Python code, it's important to prepare the tools that make coding, testing, and running programs easy and efficient. These tools together form Python development environment.</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1. Python Interpreter </a:t>
            </a:r>
            <a:r>
              <a:rPr lang="en-US" sz="3400" dirty="0">
                <a:solidFill>
                  <a:srgbClr val="002060"/>
                </a:solidFill>
                <a:latin typeface="Poppins" panose="00000500000000000000" pitchFamily="2" charset="0"/>
                <a:ea typeface="Lato"/>
                <a:cs typeface="Poppins" panose="00000500000000000000" pitchFamily="2" charset="0"/>
                <a:sym typeface="Lato"/>
              </a:rPr>
              <a:t>- The Python interpreter is the core software that runs your Python programs. It reads your .</a:t>
            </a:r>
            <a:r>
              <a:rPr lang="en-US" sz="3400" dirty="0" err="1">
                <a:solidFill>
                  <a:srgbClr val="002060"/>
                </a:solidFill>
                <a:latin typeface="Poppins" panose="00000500000000000000" pitchFamily="2" charset="0"/>
                <a:ea typeface="Lato"/>
                <a:cs typeface="Poppins" panose="00000500000000000000" pitchFamily="2" charset="0"/>
                <a:sym typeface="Lato"/>
              </a:rPr>
              <a:t>py</a:t>
            </a:r>
            <a:r>
              <a:rPr lang="en-US" sz="3400" dirty="0">
                <a:solidFill>
                  <a:srgbClr val="002060"/>
                </a:solidFill>
                <a:latin typeface="Poppins" panose="00000500000000000000" pitchFamily="2" charset="0"/>
                <a:ea typeface="Lato"/>
                <a:cs typeface="Poppins" panose="00000500000000000000" pitchFamily="2" charset="0"/>
                <a:sym typeface="Lato"/>
              </a:rPr>
              <a:t> file line by line and translates it into actions your computer can perform. Without the interpreter, your code is just plain text, thus the interpreter gives it meaning.</a:t>
            </a: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Example:</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5AC94DEF-6802-B578-C01B-988E1B4D9C20}"/>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5" name="Picture 4" descr="A grey background with yellow text&#10;&#10;AI-generated content may be incorrect.">
            <a:extLst>
              <a:ext uri="{FF2B5EF4-FFF2-40B4-BE49-F238E27FC236}">
                <a16:creationId xmlns:a16="http://schemas.microsoft.com/office/drawing/2014/main" id="{C420FDD6-87C4-3B6B-135C-8D8E544709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8420100"/>
            <a:ext cx="8817130" cy="1248370"/>
          </a:xfrm>
          <a:prstGeom prst="rect">
            <a:avLst/>
          </a:prstGeom>
        </p:spPr>
      </p:pic>
    </p:spTree>
    <p:extLst>
      <p:ext uri="{BB962C8B-B14F-4D97-AF65-F5344CB8AC3E}">
        <p14:creationId xmlns:p14="http://schemas.microsoft.com/office/powerpoint/2010/main" val="7798606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C13387EF-AC25-9CF9-F255-97B2BAC61A7E}"/>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C3EC7CD6-8B4A-A2A8-9C6D-3FEB8E74AFB5}"/>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74695B36-2494-0AB6-572B-43542A7CABBB}"/>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CEEC86B4-8226-D108-EBC0-369CCA497BFC}"/>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F50DECB4-4F68-841F-AF59-7C142939146A}"/>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11D4890A-3367-CEB9-45B9-8468DA2FB7CB}"/>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Implementation of Python Environment</a:t>
            </a:r>
          </a:p>
        </p:txBody>
      </p:sp>
      <p:sp>
        <p:nvSpPr>
          <p:cNvPr id="7" name="Google Shape;103;p15">
            <a:extLst>
              <a:ext uri="{FF2B5EF4-FFF2-40B4-BE49-F238E27FC236}">
                <a16:creationId xmlns:a16="http://schemas.microsoft.com/office/drawing/2014/main" id="{7037ED42-AFDF-A95D-E544-02D10BC92415}"/>
              </a:ext>
            </a:extLst>
          </p:cNvPr>
          <p:cNvSpPr txBox="1"/>
          <p:nvPr/>
        </p:nvSpPr>
        <p:spPr>
          <a:xfrm>
            <a:off x="304800" y="1257300"/>
            <a:ext cx="17654587" cy="706347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2. Code Editor or IDE </a:t>
            </a:r>
            <a:r>
              <a:rPr lang="en-US" sz="3400" dirty="0">
                <a:solidFill>
                  <a:srgbClr val="002060"/>
                </a:solidFill>
                <a:latin typeface="Poppins" panose="00000500000000000000" pitchFamily="2" charset="0"/>
                <a:ea typeface="Lato"/>
                <a:cs typeface="Poppins" panose="00000500000000000000" pitchFamily="2" charset="0"/>
                <a:sym typeface="Lato"/>
              </a:rPr>
              <a:t>- This is where you write your Python code. </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Types of editors:</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IDLE – comes with Python installation, great for beginners.</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VS Code – a powerful, customizable editor.</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PyCharm – a full IDE for serious Python development.</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Jupyter Notebook – ideal for writing code with explanations and outputs (often used in data science).</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a:t>
            </a:r>
          </a:p>
        </p:txBody>
      </p:sp>
      <p:sp>
        <p:nvSpPr>
          <p:cNvPr id="2" name="Slide Number Placeholder 5">
            <a:extLst>
              <a:ext uri="{FF2B5EF4-FFF2-40B4-BE49-F238E27FC236}">
                <a16:creationId xmlns:a16="http://schemas.microsoft.com/office/drawing/2014/main" id="{A2862C1E-A5A0-0B90-E555-B40D2E889A93}"/>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546527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DBD01B3-3D84-5A74-1191-65665EB2401F}"/>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65A0980A-98FD-DF44-E847-26ADA2F8131B}"/>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7369BD6F-960E-5CBC-9EAA-8118E5198FDB}"/>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98BD9A5E-F76A-C943-8A57-463E1E6EAFE2}"/>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1AC64210-2328-4F0B-F8F0-B54179FDA0AC}"/>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168CD3FC-3A9D-36CB-C6F3-43DA0114665F}"/>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Implementation of Python Environment</a:t>
            </a:r>
          </a:p>
        </p:txBody>
      </p:sp>
      <p:sp>
        <p:nvSpPr>
          <p:cNvPr id="7" name="Google Shape;103;p15">
            <a:extLst>
              <a:ext uri="{FF2B5EF4-FFF2-40B4-BE49-F238E27FC236}">
                <a16:creationId xmlns:a16="http://schemas.microsoft.com/office/drawing/2014/main" id="{48EE1360-927C-4D37-DE23-30E261AE30CA}"/>
              </a:ext>
            </a:extLst>
          </p:cNvPr>
          <p:cNvSpPr txBox="1"/>
          <p:nvPr/>
        </p:nvSpPr>
        <p:spPr>
          <a:xfrm>
            <a:off x="304800" y="1257300"/>
            <a:ext cx="17654587" cy="549381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3. Terminal or Command Prompt -</a:t>
            </a:r>
            <a:r>
              <a:rPr lang="en-US" sz="3400" dirty="0">
                <a:solidFill>
                  <a:srgbClr val="002060"/>
                </a:solidFill>
                <a:latin typeface="Poppins" panose="00000500000000000000" pitchFamily="2" charset="0"/>
                <a:ea typeface="Lato"/>
                <a:cs typeface="Poppins" panose="00000500000000000000" pitchFamily="2" charset="0"/>
                <a:sym typeface="Lato"/>
              </a:rPr>
              <a:t> This is a text-based interface where you can run commands like launching Python scripts or navigating folders.</a:t>
            </a: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Example: </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When running a python script, use either of the following commands on the root directory of the file/s:</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79DA1937-2E21-C1E9-011C-E56073825E34}"/>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4" name="Picture 3">
            <a:extLst>
              <a:ext uri="{FF2B5EF4-FFF2-40B4-BE49-F238E27FC236}">
                <a16:creationId xmlns:a16="http://schemas.microsoft.com/office/drawing/2014/main" id="{21C4D5E7-CB76-6536-B864-381A4AE72FD4}"/>
              </a:ext>
            </a:extLst>
          </p:cNvPr>
          <p:cNvPicPr>
            <a:picLocks noChangeAspect="1"/>
          </p:cNvPicPr>
          <p:nvPr/>
        </p:nvPicPr>
        <p:blipFill rotWithShape="1">
          <a:blip r:embed="rId4">
            <a:extLst>
              <a:ext uri="{28A0092B-C50C-407E-A947-70E740481C1C}">
                <a14:useLocalDpi xmlns:a14="http://schemas.microsoft.com/office/drawing/2010/main" val="0"/>
              </a:ext>
            </a:extLst>
          </a:blip>
          <a:srcRect t="16359" b="18105"/>
          <a:stretch>
            <a:fillRect/>
          </a:stretch>
        </p:blipFill>
        <p:spPr bwMode="auto">
          <a:xfrm>
            <a:off x="304800" y="5359340"/>
            <a:ext cx="6805672" cy="536490"/>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95ED7F70-200E-253B-9E9D-6D80F395D735}"/>
              </a:ext>
            </a:extLst>
          </p:cNvPr>
          <p:cNvPicPr>
            <a:picLocks noChangeAspect="1"/>
          </p:cNvPicPr>
          <p:nvPr/>
        </p:nvPicPr>
        <p:blipFill rotWithShape="1">
          <a:blip r:embed="rId5">
            <a:extLst>
              <a:ext uri="{28A0092B-C50C-407E-A947-70E740481C1C}">
                <a14:useLocalDpi xmlns:a14="http://schemas.microsoft.com/office/drawing/2010/main" val="0"/>
              </a:ext>
            </a:extLst>
          </a:blip>
          <a:srcRect b="23257"/>
          <a:stretch>
            <a:fillRect/>
          </a:stretch>
        </p:blipFill>
        <p:spPr bwMode="auto">
          <a:xfrm>
            <a:off x="304800" y="6101992"/>
            <a:ext cx="6816312" cy="5760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52628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AE4A4502-2EB2-F841-D264-4C8B4B929B10}"/>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E71CDD3D-3D8E-1210-704E-CB30613DECB5}"/>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1206B4A3-82DF-E825-D9CD-1BCDD62717B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FD815FCF-004D-F731-1C53-0C967F4C42C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C31F5091-29F1-F0D9-86D3-090307187413}"/>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67964CC9-A06E-D61C-281C-584BBAF768CD}"/>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Implementation of Python Environment</a:t>
            </a:r>
          </a:p>
        </p:txBody>
      </p:sp>
      <p:sp>
        <p:nvSpPr>
          <p:cNvPr id="7" name="Google Shape;103;p15">
            <a:extLst>
              <a:ext uri="{FF2B5EF4-FFF2-40B4-BE49-F238E27FC236}">
                <a16:creationId xmlns:a16="http://schemas.microsoft.com/office/drawing/2014/main" id="{A1C7F15E-4E02-C6EA-7BC5-FAFAFE103D19}"/>
              </a:ext>
            </a:extLst>
          </p:cNvPr>
          <p:cNvSpPr txBox="1"/>
          <p:nvPr/>
        </p:nvSpPr>
        <p:spPr>
          <a:xfrm>
            <a:off x="304800" y="1257300"/>
            <a:ext cx="17654587" cy="784830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4. Package Manager </a:t>
            </a:r>
            <a:r>
              <a:rPr lang="en-US" sz="3400" dirty="0">
                <a:solidFill>
                  <a:srgbClr val="002060"/>
                </a:solidFill>
                <a:latin typeface="Poppins" panose="00000500000000000000" pitchFamily="2" charset="0"/>
                <a:ea typeface="Lato"/>
                <a:cs typeface="Poppins" panose="00000500000000000000" pitchFamily="2" charset="0"/>
                <a:sym typeface="Lato"/>
              </a:rPr>
              <a:t>- pip is Python’s package installer to add external libraries.</a:t>
            </a: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Example:</a:t>
            </a: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Installing</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pip install flask</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Uninstalling</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pip uninstall flask</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Upgrading</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pip install --upgrade flask</a:t>
            </a:r>
          </a:p>
        </p:txBody>
      </p:sp>
      <p:sp>
        <p:nvSpPr>
          <p:cNvPr id="2" name="Slide Number Placeholder 5">
            <a:extLst>
              <a:ext uri="{FF2B5EF4-FFF2-40B4-BE49-F238E27FC236}">
                <a16:creationId xmlns:a16="http://schemas.microsoft.com/office/drawing/2014/main" id="{63F7487C-E6B5-4194-6242-5513CFA16B2F}"/>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4269680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9E3BB775-ED33-1A0A-732D-034D756773F2}"/>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63A049DF-00EF-B712-82E2-747E236BA055}"/>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BD0E94E1-85D9-B2FF-D2BF-682E1062478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386ADD0C-AF84-B797-CC65-F904DD563089}"/>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58F4698E-D52B-F263-4C59-5B45EA18F287}"/>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A1C02E36-D603-89FD-5E00-30B3D6F074A5}"/>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File Management</a:t>
            </a:r>
          </a:p>
        </p:txBody>
      </p:sp>
      <p:sp>
        <p:nvSpPr>
          <p:cNvPr id="7" name="Google Shape;103;p15">
            <a:extLst>
              <a:ext uri="{FF2B5EF4-FFF2-40B4-BE49-F238E27FC236}">
                <a16:creationId xmlns:a16="http://schemas.microsoft.com/office/drawing/2014/main" id="{45E502EA-995F-F94A-E53B-81008B15D130}"/>
              </a:ext>
            </a:extLst>
          </p:cNvPr>
          <p:cNvSpPr txBox="1"/>
          <p:nvPr/>
        </p:nvSpPr>
        <p:spPr>
          <a:xfrm>
            <a:off x="304800" y="1257300"/>
            <a:ext cx="17654587" cy="706347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Python scripts </a:t>
            </a:r>
            <a:r>
              <a:rPr lang="en-US" sz="3400" dirty="0">
                <a:solidFill>
                  <a:srgbClr val="002060"/>
                </a:solidFill>
                <a:latin typeface="Poppins" panose="00000500000000000000" pitchFamily="2" charset="0"/>
                <a:ea typeface="Lato"/>
                <a:cs typeface="Poppins" panose="00000500000000000000" pitchFamily="2" charset="0"/>
                <a:sym typeface="Lato"/>
              </a:rPr>
              <a:t>are saved with the .</a:t>
            </a:r>
            <a:r>
              <a:rPr lang="en-US" sz="3400" dirty="0" err="1">
                <a:solidFill>
                  <a:srgbClr val="002060"/>
                </a:solidFill>
                <a:latin typeface="Poppins" panose="00000500000000000000" pitchFamily="2" charset="0"/>
                <a:ea typeface="Lato"/>
                <a:cs typeface="Poppins" panose="00000500000000000000" pitchFamily="2" charset="0"/>
                <a:sym typeface="Lato"/>
              </a:rPr>
              <a:t>py</a:t>
            </a:r>
            <a:r>
              <a:rPr lang="en-US" sz="3400" dirty="0">
                <a:solidFill>
                  <a:srgbClr val="002060"/>
                </a:solidFill>
                <a:latin typeface="Poppins" panose="00000500000000000000" pitchFamily="2" charset="0"/>
                <a:ea typeface="Lato"/>
                <a:cs typeface="Poppins" panose="00000500000000000000" pitchFamily="2" charset="0"/>
                <a:sym typeface="Lato"/>
              </a:rPr>
              <a:t> file extension. It is good practice to organize scripts in separate folders based on topic or project. This helps avoid confusion and makes your workspace cleaner.</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dirty="0" err="1">
                <a:solidFill>
                  <a:srgbClr val="002060"/>
                </a:solidFill>
                <a:latin typeface="Poppins" panose="00000500000000000000" pitchFamily="2" charset="0"/>
                <a:ea typeface="Lato"/>
                <a:cs typeface="Poppins" panose="00000500000000000000" pitchFamily="2" charset="0"/>
                <a:sym typeface="Lato"/>
              </a:rPr>
              <a:t>PythonProjects</a:t>
            </a:r>
            <a:r>
              <a:rPr lang="en-US" sz="3400" dirty="0">
                <a:solidFill>
                  <a:srgbClr val="002060"/>
                </a:solidFill>
                <a:latin typeface="Poppins" panose="00000500000000000000" pitchFamily="2" charset="0"/>
                <a:ea typeface="Lato"/>
                <a:cs typeface="Poppins" panose="00000500000000000000" pitchFamily="2" charset="0"/>
                <a:sym typeface="Lato"/>
              </a:rPr>
              <a:t>/</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Lesson1/</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 hello.py</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Lesson2/</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    └── calculator.py </a:t>
            </a:r>
          </a:p>
        </p:txBody>
      </p:sp>
      <p:sp>
        <p:nvSpPr>
          <p:cNvPr id="2" name="Slide Number Placeholder 5">
            <a:extLst>
              <a:ext uri="{FF2B5EF4-FFF2-40B4-BE49-F238E27FC236}">
                <a16:creationId xmlns:a16="http://schemas.microsoft.com/office/drawing/2014/main" id="{FC3B2DCC-EAE2-72D7-919F-02B8FF5752E6}"/>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2524356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CD172261-27C3-D404-24D9-5CBB09ED5122}"/>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5D7BD812-B2F0-593D-C032-4CA2D967777C}"/>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A50AAF4E-2B9D-1FC7-7C8F-28F2B5B50F9F}"/>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E64D68BA-4769-7B91-D7F4-B597C469BC87}"/>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4632F3B2-8C00-EBD2-1AF7-8D9ECA7BD1A8}"/>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05AB45F8-9CCF-FBDC-969D-C233802520AE}"/>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How to run code using the IDE</a:t>
            </a:r>
          </a:p>
        </p:txBody>
      </p:sp>
      <p:sp>
        <p:nvSpPr>
          <p:cNvPr id="7" name="Google Shape;103;p15">
            <a:extLst>
              <a:ext uri="{FF2B5EF4-FFF2-40B4-BE49-F238E27FC236}">
                <a16:creationId xmlns:a16="http://schemas.microsoft.com/office/drawing/2014/main" id="{8F0EF570-F76B-CF9E-F490-F524B19A6947}"/>
              </a:ext>
            </a:extLst>
          </p:cNvPr>
          <p:cNvSpPr txBox="1"/>
          <p:nvPr/>
        </p:nvSpPr>
        <p:spPr>
          <a:xfrm>
            <a:off x="304800" y="1257300"/>
            <a:ext cx="17654587" cy="9002464"/>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1. Using IDLE</a:t>
            </a:r>
          </a:p>
          <a:p>
            <a:pPr marL="914400" lvl="1" indent="-457200" algn="just">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Open IDLE</a:t>
            </a:r>
          </a:p>
          <a:p>
            <a:pPr marL="914400" lvl="1" indent="-457200" algn="just">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Click File &gt; New File, write your code.</a:t>
            </a:r>
          </a:p>
          <a:p>
            <a:pPr marL="914400" lvl="1" indent="-457200" algn="just">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Save file with a .</a:t>
            </a:r>
            <a:r>
              <a:rPr lang="en-US" sz="3400" dirty="0" err="1">
                <a:solidFill>
                  <a:srgbClr val="002060"/>
                </a:solidFill>
                <a:latin typeface="Poppins" panose="00000500000000000000" pitchFamily="2" charset="0"/>
                <a:ea typeface="Lato"/>
                <a:cs typeface="Poppins" panose="00000500000000000000" pitchFamily="2" charset="0"/>
                <a:sym typeface="Lato"/>
              </a:rPr>
              <a:t>py</a:t>
            </a:r>
            <a:r>
              <a:rPr lang="en-US" sz="3400" dirty="0">
                <a:solidFill>
                  <a:srgbClr val="002060"/>
                </a:solidFill>
                <a:latin typeface="Poppins" panose="00000500000000000000" pitchFamily="2" charset="0"/>
                <a:ea typeface="Lato"/>
                <a:cs typeface="Poppins" panose="00000500000000000000" pitchFamily="2" charset="0"/>
                <a:sym typeface="Lato"/>
              </a:rPr>
              <a:t> extension</a:t>
            </a:r>
          </a:p>
          <a:p>
            <a:pPr marL="914400" lvl="1" indent="-457200" algn="just">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Press F5 or Click Run &gt; Run Module to see the output.</a:t>
            </a:r>
          </a:p>
          <a:p>
            <a:pPr algn="just"/>
            <a:endParaRPr lang="en-US" sz="2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2. Using VS Code</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Create new .</a:t>
            </a:r>
            <a:r>
              <a:rPr lang="en-US" sz="3400" dirty="0" err="1">
                <a:solidFill>
                  <a:srgbClr val="002060"/>
                </a:solidFill>
                <a:latin typeface="Poppins" panose="00000500000000000000" pitchFamily="2" charset="0"/>
                <a:ea typeface="Lato"/>
                <a:cs typeface="Poppins" panose="00000500000000000000" pitchFamily="2" charset="0"/>
                <a:sym typeface="Lato"/>
              </a:rPr>
              <a:t>py</a:t>
            </a:r>
            <a:r>
              <a:rPr lang="en-US" sz="3400" dirty="0">
                <a:solidFill>
                  <a:srgbClr val="002060"/>
                </a:solidFill>
                <a:latin typeface="Poppins" panose="00000500000000000000" pitchFamily="2" charset="0"/>
                <a:ea typeface="Lato"/>
                <a:cs typeface="Poppins" panose="00000500000000000000" pitchFamily="2" charset="0"/>
                <a:sym typeface="Lato"/>
              </a:rPr>
              <a:t> file.</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Press Ctrl + Shift + P &gt; Python; Run Python File in Terminal to run or Open the integrated terminal then run the following command: </a:t>
            </a:r>
          </a:p>
          <a:p>
            <a:pPr marL="914400" lvl="1" indent="-457200" algn="just">
              <a:lnSpc>
                <a:spcPct val="150000"/>
              </a:lnSpc>
              <a:buFont typeface="Arial" panose="020B0604020202020204" pitchFamily="34" charset="0"/>
              <a:buChar char="•"/>
            </a:pPr>
            <a:r>
              <a:rPr lang="en-US" sz="3400" dirty="0" err="1">
                <a:solidFill>
                  <a:srgbClr val="002060"/>
                </a:solidFill>
                <a:latin typeface="Poppins" panose="00000500000000000000" pitchFamily="2" charset="0"/>
                <a:ea typeface="Lato"/>
                <a:cs typeface="Poppins" panose="00000500000000000000" pitchFamily="2" charset="0"/>
                <a:sym typeface="Lato"/>
              </a:rPr>
              <a:t>py</a:t>
            </a:r>
            <a:r>
              <a:rPr lang="en-US" sz="3400" dirty="0">
                <a:solidFill>
                  <a:srgbClr val="002060"/>
                </a:solidFill>
                <a:latin typeface="Poppins" panose="00000500000000000000" pitchFamily="2" charset="0"/>
                <a:ea typeface="Lato"/>
                <a:cs typeface="Poppins" panose="00000500000000000000" pitchFamily="2" charset="0"/>
                <a:sym typeface="Lato"/>
              </a:rPr>
              <a:t> &lt;filename.py&gt;</a:t>
            </a:r>
          </a:p>
          <a:p>
            <a:pPr marL="914400" lvl="1" indent="-457200" algn="just">
              <a:lnSpc>
                <a:spcPct val="150000"/>
              </a:lnSpc>
              <a:buFont typeface="Arial" panose="020B0604020202020204" pitchFamily="34" charset="0"/>
              <a:buChar char="•"/>
            </a:pPr>
            <a:r>
              <a:rPr lang="en-US" sz="3400" dirty="0">
                <a:solidFill>
                  <a:srgbClr val="002060"/>
                </a:solidFill>
                <a:latin typeface="Poppins" panose="00000500000000000000" pitchFamily="2" charset="0"/>
                <a:ea typeface="Lato"/>
                <a:cs typeface="Poppins" panose="00000500000000000000" pitchFamily="2" charset="0"/>
                <a:sym typeface="Lato"/>
              </a:rPr>
              <a:t>python &lt;filename.py&gt;</a:t>
            </a:r>
          </a:p>
        </p:txBody>
      </p:sp>
      <p:sp>
        <p:nvSpPr>
          <p:cNvPr id="2" name="Slide Number Placeholder 5">
            <a:extLst>
              <a:ext uri="{FF2B5EF4-FFF2-40B4-BE49-F238E27FC236}">
                <a16:creationId xmlns:a16="http://schemas.microsoft.com/office/drawing/2014/main" id="{F666B73A-52E7-6CBE-0586-DA5F14E13BC0}"/>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3347189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D6CFEC6E-B93E-48EF-C4D2-671D4F2457CC}"/>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ED817028-36E2-B5AF-BF78-13384C5901E1}"/>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CF43183A-EDF1-AF7D-EDE2-990C43695018}"/>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2C30EF75-A381-0EC0-EE50-40FBB49C745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3C554E02-4D4C-79D5-8E6B-5AC48DDF9EDD}"/>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8660ED35-A3D5-5B59-2877-62A1AB63A17E}"/>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Installation of Python Application and Interpreter</a:t>
            </a:r>
          </a:p>
        </p:txBody>
      </p:sp>
      <p:sp>
        <p:nvSpPr>
          <p:cNvPr id="7" name="Google Shape;103;p15">
            <a:extLst>
              <a:ext uri="{FF2B5EF4-FFF2-40B4-BE49-F238E27FC236}">
                <a16:creationId xmlns:a16="http://schemas.microsoft.com/office/drawing/2014/main" id="{1DE16862-5B2D-7A19-4126-591BFEE02C2E}"/>
              </a:ext>
            </a:extLst>
          </p:cNvPr>
          <p:cNvSpPr txBox="1"/>
          <p:nvPr/>
        </p:nvSpPr>
        <p:spPr>
          <a:xfrm>
            <a:off x="304800" y="1257300"/>
            <a:ext cx="17654587" cy="8633133"/>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What is Python Application and Interpreter?</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Python Application: </a:t>
            </a:r>
            <a:r>
              <a:rPr lang="en-US" sz="3400" dirty="0">
                <a:solidFill>
                  <a:srgbClr val="002060"/>
                </a:solidFill>
                <a:latin typeface="Poppins" panose="00000500000000000000" pitchFamily="2" charset="0"/>
                <a:ea typeface="Lato"/>
                <a:cs typeface="Poppins" panose="00000500000000000000" pitchFamily="2" charset="0"/>
                <a:sym typeface="Lato"/>
              </a:rPr>
              <a:t>the official software package containing everything needed to run Python.</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Interpreter: </a:t>
            </a:r>
            <a:r>
              <a:rPr lang="en-US" sz="3400" dirty="0">
                <a:solidFill>
                  <a:srgbClr val="002060"/>
                </a:solidFill>
                <a:latin typeface="Poppins" panose="00000500000000000000" pitchFamily="2" charset="0"/>
                <a:ea typeface="Lato"/>
                <a:cs typeface="Poppins" panose="00000500000000000000" pitchFamily="2" charset="0"/>
                <a:sym typeface="Lato"/>
              </a:rPr>
              <a:t>the program that executes Python code line by line. Without it, your computer cannot understand Python.</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Think of Python as a new language. The interpreter acts like a translator that converts your words into something the computer understands.</a:t>
            </a:r>
          </a:p>
          <a:p>
            <a:pPr algn="just">
              <a:lnSpc>
                <a:spcPct val="150000"/>
              </a:lnSpc>
            </a:pPr>
            <a:endParaRPr lang="en-US" sz="3400"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57D27806-6E94-9BC6-B4A6-1171356649AE}"/>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spTree>
    <p:extLst>
      <p:ext uri="{BB962C8B-B14F-4D97-AF65-F5344CB8AC3E}">
        <p14:creationId xmlns:p14="http://schemas.microsoft.com/office/powerpoint/2010/main" val="20754397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06E5647E-B4A7-3AE1-BF05-B7029B33E000}"/>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4AC64EC6-291E-C57C-6D0B-D5ED56E5B145}"/>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32B8F0E2-FB89-B993-AE49-976DB3BB582D}"/>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604FF89C-75D2-3AD4-2DD9-FC581A066DC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3F8E0DD0-2F0F-8D88-14DE-EFD8F39B8837}"/>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16132842-E047-2F41-193A-4F0716D2E8FD}"/>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Installing Python</a:t>
            </a:r>
          </a:p>
        </p:txBody>
      </p:sp>
      <p:sp>
        <p:nvSpPr>
          <p:cNvPr id="7" name="Google Shape;103;p15">
            <a:extLst>
              <a:ext uri="{FF2B5EF4-FFF2-40B4-BE49-F238E27FC236}">
                <a16:creationId xmlns:a16="http://schemas.microsoft.com/office/drawing/2014/main" id="{248D0B6F-DFFF-48B6-9A69-C044AAEEBD57}"/>
              </a:ext>
            </a:extLst>
          </p:cNvPr>
          <p:cNvSpPr txBox="1"/>
          <p:nvPr/>
        </p:nvSpPr>
        <p:spPr>
          <a:xfrm>
            <a:off x="304800" y="1257300"/>
            <a:ext cx="17654587" cy="627864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Step 1: Download Python - </a:t>
            </a:r>
            <a:r>
              <a:rPr lang="en-US" sz="3400" dirty="0">
                <a:solidFill>
                  <a:srgbClr val="002060"/>
                </a:solidFill>
                <a:latin typeface="Poppins" panose="00000500000000000000" pitchFamily="2" charset="0"/>
                <a:ea typeface="Lato"/>
                <a:cs typeface="Poppins" panose="00000500000000000000" pitchFamily="2" charset="0"/>
                <a:sym typeface="Lato"/>
              </a:rPr>
              <a:t>Go to the official Python website: https://www.python.org/downloads/. Choose the correct version for your OS (Windows, macOS, Linux).</a:t>
            </a: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p:txBody>
      </p:sp>
      <p:sp>
        <p:nvSpPr>
          <p:cNvPr id="2" name="Slide Number Placeholder 5">
            <a:extLst>
              <a:ext uri="{FF2B5EF4-FFF2-40B4-BE49-F238E27FC236}">
                <a16:creationId xmlns:a16="http://schemas.microsoft.com/office/drawing/2014/main" id="{636A3B20-A1A1-D6B2-5C80-1883DC1A2DBE}"/>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4" name="Picture 3">
            <a:extLst>
              <a:ext uri="{FF2B5EF4-FFF2-40B4-BE49-F238E27FC236}">
                <a16:creationId xmlns:a16="http://schemas.microsoft.com/office/drawing/2014/main" id="{6EBFC1EF-8F18-D508-BE0A-5DF7C8A46614}"/>
              </a:ext>
            </a:extLst>
          </p:cNvPr>
          <p:cNvPicPr/>
          <p:nvPr/>
        </p:nvPicPr>
        <p:blipFill rotWithShape="1">
          <a:blip r:embed="rId4">
            <a:extLst>
              <a:ext uri="{28A0092B-C50C-407E-A947-70E740481C1C}">
                <a14:useLocalDpi xmlns:a14="http://schemas.microsoft.com/office/drawing/2010/main" val="0"/>
              </a:ext>
            </a:extLst>
          </a:blip>
          <a:srcRect b="9000"/>
          <a:stretch/>
        </p:blipFill>
        <p:spPr bwMode="auto">
          <a:xfrm>
            <a:off x="303675" y="3690592"/>
            <a:ext cx="11727757" cy="53425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757229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BA1CD5DC-BA72-2F5F-CCD3-C5D64FABA1C4}"/>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35E55AB3-178D-9062-D852-D5704974F8CE}"/>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8280C299-1894-921C-F24F-0B98A5413081}"/>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FBFB131D-B02B-2EB7-1435-4B805348EBA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B14DDEF1-9657-1097-7092-2D6EE7501FDC}"/>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FDD66146-A618-F712-2E40-20985D797A50}"/>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Installing Python</a:t>
            </a:r>
          </a:p>
        </p:txBody>
      </p:sp>
      <p:sp>
        <p:nvSpPr>
          <p:cNvPr id="7" name="Google Shape;103;p15">
            <a:extLst>
              <a:ext uri="{FF2B5EF4-FFF2-40B4-BE49-F238E27FC236}">
                <a16:creationId xmlns:a16="http://schemas.microsoft.com/office/drawing/2014/main" id="{8AF358AB-6E08-D8BB-F7B4-1392DAF7880A}"/>
              </a:ext>
            </a:extLst>
          </p:cNvPr>
          <p:cNvSpPr txBox="1"/>
          <p:nvPr/>
        </p:nvSpPr>
        <p:spPr>
          <a:xfrm>
            <a:off x="304800" y="1257300"/>
            <a:ext cx="17654587" cy="1569660"/>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Step 2: Run the installer</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Check on “Add python.exe to PATH” then select “Customize installation”.</a:t>
            </a:r>
          </a:p>
        </p:txBody>
      </p:sp>
      <p:sp>
        <p:nvSpPr>
          <p:cNvPr id="2" name="Slide Number Placeholder 5">
            <a:extLst>
              <a:ext uri="{FF2B5EF4-FFF2-40B4-BE49-F238E27FC236}">
                <a16:creationId xmlns:a16="http://schemas.microsoft.com/office/drawing/2014/main" id="{E5C5772F-89A7-4A80-26C9-6C8B5699FC62}"/>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5" name="Picture 4">
            <a:extLst>
              <a:ext uri="{FF2B5EF4-FFF2-40B4-BE49-F238E27FC236}">
                <a16:creationId xmlns:a16="http://schemas.microsoft.com/office/drawing/2014/main" id="{A2172E7B-FB6B-62A0-B2C0-3E233556D4E7}"/>
              </a:ext>
            </a:extLst>
          </p:cNvPr>
          <p:cNvPicPr/>
          <p:nvPr/>
        </p:nvPicPr>
        <p:blipFill>
          <a:blip r:embed="rId4">
            <a:extLst>
              <a:ext uri="{28A0092B-C50C-407E-A947-70E740481C1C}">
                <a14:useLocalDpi xmlns:a14="http://schemas.microsoft.com/office/drawing/2010/main" val="0"/>
              </a:ext>
            </a:extLst>
          </a:blip>
          <a:stretch>
            <a:fillRect/>
          </a:stretch>
        </p:blipFill>
        <p:spPr>
          <a:xfrm>
            <a:off x="304800" y="2978255"/>
            <a:ext cx="11442007" cy="5236210"/>
          </a:xfrm>
          <a:prstGeom prst="rect">
            <a:avLst/>
          </a:prstGeom>
          <a:ln>
            <a:solidFill>
              <a:schemeClr val="tx1"/>
            </a:solidFill>
          </a:ln>
        </p:spPr>
      </p:pic>
    </p:spTree>
    <p:extLst>
      <p:ext uri="{BB962C8B-B14F-4D97-AF65-F5344CB8AC3E}">
        <p14:creationId xmlns:p14="http://schemas.microsoft.com/office/powerpoint/2010/main" val="4171869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16683C7B-EBB3-2706-6789-42D03BA6EA47}"/>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D09D5DFA-B110-02EF-D588-12F913A4B74D}"/>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C653FE14-F990-B3F7-A585-E069E33BE168}"/>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67007050-C658-76EB-6D70-92E4A683100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6A0D2C19-89FE-0AC1-46E0-3DF11CB31507}"/>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77B2CA3D-9BED-226B-A627-505874E35638}"/>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Installing Python</a:t>
            </a:r>
          </a:p>
        </p:txBody>
      </p:sp>
      <p:sp>
        <p:nvSpPr>
          <p:cNvPr id="7" name="Google Shape;103;p15">
            <a:extLst>
              <a:ext uri="{FF2B5EF4-FFF2-40B4-BE49-F238E27FC236}">
                <a16:creationId xmlns:a16="http://schemas.microsoft.com/office/drawing/2014/main" id="{AC1D7938-4975-DEC8-6EFE-C838C13135C2}"/>
              </a:ext>
            </a:extLst>
          </p:cNvPr>
          <p:cNvSpPr txBox="1"/>
          <p:nvPr/>
        </p:nvSpPr>
        <p:spPr>
          <a:xfrm>
            <a:off x="304800" y="1257300"/>
            <a:ext cx="17654587" cy="1569660"/>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Step 2: Run the installer</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Before clicking Next, make sure to check all the following.</a:t>
            </a:r>
          </a:p>
        </p:txBody>
      </p:sp>
      <p:sp>
        <p:nvSpPr>
          <p:cNvPr id="2" name="Slide Number Placeholder 5">
            <a:extLst>
              <a:ext uri="{FF2B5EF4-FFF2-40B4-BE49-F238E27FC236}">
                <a16:creationId xmlns:a16="http://schemas.microsoft.com/office/drawing/2014/main" id="{555E1431-F847-8131-A4AB-E8A904840E2B}"/>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4" name="Picture 3">
            <a:extLst>
              <a:ext uri="{FF2B5EF4-FFF2-40B4-BE49-F238E27FC236}">
                <a16:creationId xmlns:a16="http://schemas.microsoft.com/office/drawing/2014/main" id="{798B3E5D-629D-BC0A-70BD-4D933494EBD1}"/>
              </a:ext>
            </a:extLst>
          </p:cNvPr>
          <p:cNvPicPr/>
          <p:nvPr/>
        </p:nvPicPr>
        <p:blipFill>
          <a:blip r:embed="rId4">
            <a:extLst>
              <a:ext uri="{28A0092B-C50C-407E-A947-70E740481C1C}">
                <a14:useLocalDpi xmlns:a14="http://schemas.microsoft.com/office/drawing/2010/main" val="0"/>
              </a:ext>
            </a:extLst>
          </a:blip>
          <a:stretch>
            <a:fillRect/>
          </a:stretch>
        </p:blipFill>
        <p:spPr>
          <a:xfrm>
            <a:off x="304800" y="2932946"/>
            <a:ext cx="11125200" cy="5944353"/>
          </a:xfrm>
          <a:prstGeom prst="rect">
            <a:avLst/>
          </a:prstGeom>
          <a:ln>
            <a:solidFill>
              <a:schemeClr val="tx1"/>
            </a:solidFill>
          </a:ln>
        </p:spPr>
      </p:pic>
    </p:spTree>
    <p:extLst>
      <p:ext uri="{BB962C8B-B14F-4D97-AF65-F5344CB8AC3E}">
        <p14:creationId xmlns:p14="http://schemas.microsoft.com/office/powerpoint/2010/main" val="3926815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3235B363-3C88-4529-5EC5-85D4C2C26676}"/>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4F051D0D-B115-15A1-A21D-2BC67DA55CFC}"/>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72C8751C-4A5C-64B6-00AB-EDACDCD52AFA}"/>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59BC6391-91CB-D137-E6DB-DF37EC1951C9}"/>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226DFC90-BBF7-1D9C-C991-769B3A7D457C}"/>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25EBE61B-1E32-65D1-03B1-F487859FD7DA}"/>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Installing Python</a:t>
            </a:r>
          </a:p>
        </p:txBody>
      </p:sp>
      <p:sp>
        <p:nvSpPr>
          <p:cNvPr id="7" name="Google Shape;103;p15">
            <a:extLst>
              <a:ext uri="{FF2B5EF4-FFF2-40B4-BE49-F238E27FC236}">
                <a16:creationId xmlns:a16="http://schemas.microsoft.com/office/drawing/2014/main" id="{A6B359C1-2200-2B50-C99E-EF7D825BB906}"/>
              </a:ext>
            </a:extLst>
          </p:cNvPr>
          <p:cNvSpPr txBox="1"/>
          <p:nvPr/>
        </p:nvSpPr>
        <p:spPr>
          <a:xfrm>
            <a:off x="304800" y="1257300"/>
            <a:ext cx="17654587" cy="3139321"/>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Step 2: Run the installer</a:t>
            </a:r>
          </a:p>
          <a:p>
            <a:pPr algn="just">
              <a:lnSpc>
                <a:spcPct val="150000"/>
              </a:lnSpc>
            </a:pPr>
            <a:r>
              <a:rPr lang="en-US" sz="3400" dirty="0">
                <a:solidFill>
                  <a:srgbClr val="002060"/>
                </a:solidFill>
                <a:latin typeface="Poppins" panose="00000500000000000000" pitchFamily="2" charset="0"/>
                <a:ea typeface="Lato"/>
                <a:cs typeface="Poppins" panose="00000500000000000000" pitchFamily="2" charset="0"/>
                <a:sym typeface="Lato"/>
              </a:rPr>
              <a:t>Check on “Install Python 3.12 for all users” and “Add Python to environment variables” then, click install. A dialogue box will appear, click “Yes” then wait for the installation to be done.</a:t>
            </a:r>
          </a:p>
        </p:txBody>
      </p:sp>
      <p:sp>
        <p:nvSpPr>
          <p:cNvPr id="2" name="Slide Number Placeholder 5">
            <a:extLst>
              <a:ext uri="{FF2B5EF4-FFF2-40B4-BE49-F238E27FC236}">
                <a16:creationId xmlns:a16="http://schemas.microsoft.com/office/drawing/2014/main" id="{504D3BD2-BFED-33CA-6128-469DC13A8459}"/>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5" name="Picture 4">
            <a:extLst>
              <a:ext uri="{FF2B5EF4-FFF2-40B4-BE49-F238E27FC236}">
                <a16:creationId xmlns:a16="http://schemas.microsoft.com/office/drawing/2014/main" id="{D639B43B-8B15-082B-32EC-61CCF030A32E}"/>
              </a:ext>
            </a:extLst>
          </p:cNvPr>
          <p:cNvPicPr/>
          <p:nvPr/>
        </p:nvPicPr>
        <p:blipFill>
          <a:blip r:embed="rId4">
            <a:extLst>
              <a:ext uri="{28A0092B-C50C-407E-A947-70E740481C1C}">
                <a14:useLocalDpi xmlns:a14="http://schemas.microsoft.com/office/drawing/2010/main" val="0"/>
              </a:ext>
            </a:extLst>
          </a:blip>
          <a:stretch>
            <a:fillRect/>
          </a:stretch>
        </p:blipFill>
        <p:spPr>
          <a:xfrm>
            <a:off x="304800" y="4396620"/>
            <a:ext cx="11125200" cy="5395079"/>
          </a:xfrm>
          <a:prstGeom prst="rect">
            <a:avLst/>
          </a:prstGeom>
          <a:ln>
            <a:solidFill>
              <a:schemeClr val="tx1"/>
            </a:solidFill>
          </a:ln>
        </p:spPr>
      </p:pic>
    </p:spTree>
    <p:extLst>
      <p:ext uri="{BB962C8B-B14F-4D97-AF65-F5344CB8AC3E}">
        <p14:creationId xmlns:p14="http://schemas.microsoft.com/office/powerpoint/2010/main" val="1747414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4DDD3F77-F055-B0BE-5863-C68520D1362A}"/>
            </a:ext>
          </a:extLst>
        </p:cNvPr>
        <p:cNvGrpSpPr/>
        <p:nvPr/>
      </p:nvGrpSpPr>
      <p:grpSpPr>
        <a:xfrm>
          <a:off x="0" y="0"/>
          <a:ext cx="0" cy="0"/>
          <a:chOff x="0" y="0"/>
          <a:chExt cx="0" cy="0"/>
        </a:xfrm>
      </p:grpSpPr>
      <p:grpSp>
        <p:nvGrpSpPr>
          <p:cNvPr id="6" name="Group 2">
            <a:extLst>
              <a:ext uri="{FF2B5EF4-FFF2-40B4-BE49-F238E27FC236}">
                <a16:creationId xmlns:a16="http://schemas.microsoft.com/office/drawing/2014/main" id="{A42CA932-2527-350C-FC1E-E55039B8713E}"/>
              </a:ext>
            </a:extLst>
          </p:cNvPr>
          <p:cNvGrpSpPr>
            <a:grpSpLocks noGrp="1" noUngrp="1" noRot="1" noMove="1" noResize="1"/>
          </p:cNvGrpSpPr>
          <p:nvPr/>
        </p:nvGrpSpPr>
        <p:grpSpPr>
          <a:xfrm>
            <a:off x="16389668" y="8420100"/>
            <a:ext cx="1828800" cy="1671354"/>
            <a:chOff x="0" y="0"/>
            <a:chExt cx="10022021" cy="9446043"/>
          </a:xfrm>
        </p:grpSpPr>
        <p:sp>
          <p:nvSpPr>
            <p:cNvPr id="8" name="Freeform 3">
              <a:extLst>
                <a:ext uri="{FF2B5EF4-FFF2-40B4-BE49-F238E27FC236}">
                  <a16:creationId xmlns:a16="http://schemas.microsoft.com/office/drawing/2014/main" id="{1D8299D2-A51E-6591-0D25-CE87676D5146}"/>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9" name="Freeform 4">
              <a:extLst>
                <a:ext uri="{FF2B5EF4-FFF2-40B4-BE49-F238E27FC236}">
                  <a16:creationId xmlns:a16="http://schemas.microsoft.com/office/drawing/2014/main" id="{1F342EC8-A385-CD4B-F8F9-3DCF63D963DD}"/>
                </a:ext>
              </a:extLst>
            </p:cNvPr>
            <p:cNvSpPr>
              <a:spLocks noGrp="1" noRot="1" noMove="1" noResize="1" noEditPoints="1" noAdjustHandles="1" noChangeArrowheads="1" noChangeShapeType="1"/>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a:p>
          </p:txBody>
        </p:sp>
        <p:sp>
          <p:nvSpPr>
            <p:cNvPr id="10" name="Freeform 5">
              <a:extLst>
                <a:ext uri="{FF2B5EF4-FFF2-40B4-BE49-F238E27FC236}">
                  <a16:creationId xmlns:a16="http://schemas.microsoft.com/office/drawing/2014/main" id="{DA973D47-C7F0-F2AD-A778-7849D4932D32}"/>
                </a:ext>
              </a:extLst>
            </p:cNvPr>
            <p:cNvSpPr>
              <a:spLocks/>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15000"/>
              </a:blip>
              <a:stretch>
                <a:fillRect/>
              </a:stretch>
            </a:blipFill>
          </p:spPr>
          <p:txBody>
            <a:bodyPr/>
            <a:lstStyle/>
            <a:p>
              <a:endParaRPr lang="en-PH" dirty="0"/>
            </a:p>
          </p:txBody>
        </p:sp>
      </p:grpSp>
      <p:sp>
        <p:nvSpPr>
          <p:cNvPr id="111" name="Google Shape;111;p15">
            <a:extLst>
              <a:ext uri="{FF2B5EF4-FFF2-40B4-BE49-F238E27FC236}">
                <a16:creationId xmlns:a16="http://schemas.microsoft.com/office/drawing/2014/main" id="{926C0AE7-DB99-5575-AB94-CDA99C134241}"/>
              </a:ext>
            </a:extLst>
          </p:cNvPr>
          <p:cNvSpPr txBox="1"/>
          <p:nvPr/>
        </p:nvSpPr>
        <p:spPr>
          <a:xfrm>
            <a:off x="592931" y="303364"/>
            <a:ext cx="17102138" cy="692497"/>
          </a:xfrm>
          <a:prstGeom prst="rect">
            <a:avLst/>
          </a:prstGeom>
          <a:noFill/>
          <a:ln>
            <a:noFill/>
          </a:ln>
        </p:spPr>
        <p:txBody>
          <a:bodyPr spcFirstLastPara="1" wrap="square" lIns="0" tIns="0" rIns="0" bIns="0" anchor="t" anchorCtr="0">
            <a:spAutoFit/>
          </a:bodyPr>
          <a:lstStyle/>
          <a:p>
            <a:r>
              <a:rPr lang="en-US" sz="4500" b="1" dirty="0">
                <a:solidFill>
                  <a:srgbClr val="002D62"/>
                </a:solidFill>
                <a:latin typeface="Poppins"/>
                <a:ea typeface="Poppins"/>
                <a:cs typeface="Poppins"/>
                <a:sym typeface="Poppins"/>
              </a:rPr>
              <a:t>Installing Python (VS Code)</a:t>
            </a:r>
          </a:p>
        </p:txBody>
      </p:sp>
      <p:sp>
        <p:nvSpPr>
          <p:cNvPr id="7" name="Google Shape;103;p15">
            <a:extLst>
              <a:ext uri="{FF2B5EF4-FFF2-40B4-BE49-F238E27FC236}">
                <a16:creationId xmlns:a16="http://schemas.microsoft.com/office/drawing/2014/main" id="{4EC517B2-B4CC-D994-286E-CB06BCBD8081}"/>
              </a:ext>
            </a:extLst>
          </p:cNvPr>
          <p:cNvSpPr txBox="1"/>
          <p:nvPr/>
        </p:nvSpPr>
        <p:spPr>
          <a:xfrm>
            <a:off x="304800" y="1257300"/>
            <a:ext cx="17654587" cy="7848302"/>
          </a:xfrm>
          <a:prstGeom prst="rect">
            <a:avLst/>
          </a:prstGeom>
          <a:noFill/>
          <a:ln>
            <a:noFill/>
          </a:ln>
        </p:spPr>
        <p:txBody>
          <a:bodyPr spcFirstLastPara="1" wrap="square" lIns="0" tIns="0" rIns="0" bIns="0" anchor="t" anchorCtr="0">
            <a:spAutoFit/>
          </a:bodyPr>
          <a:lstStyle/>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Step 1: </a:t>
            </a:r>
            <a:r>
              <a:rPr lang="en-US" sz="3400" dirty="0">
                <a:solidFill>
                  <a:srgbClr val="002060"/>
                </a:solidFill>
                <a:latin typeface="Poppins" panose="00000500000000000000" pitchFamily="2" charset="0"/>
                <a:ea typeface="Lato"/>
                <a:cs typeface="Poppins" panose="00000500000000000000" pitchFamily="2" charset="0"/>
                <a:sym typeface="Lato"/>
              </a:rPr>
              <a:t>On your </a:t>
            </a:r>
            <a:r>
              <a:rPr lang="en-US" sz="3400" dirty="0" err="1">
                <a:solidFill>
                  <a:srgbClr val="002060"/>
                </a:solidFill>
                <a:latin typeface="Poppins" panose="00000500000000000000" pitchFamily="2" charset="0"/>
                <a:ea typeface="Lato"/>
                <a:cs typeface="Poppins" panose="00000500000000000000" pitchFamily="2" charset="0"/>
                <a:sym typeface="Lato"/>
              </a:rPr>
              <a:t>VSCode</a:t>
            </a:r>
            <a:r>
              <a:rPr lang="en-US" sz="3400" dirty="0">
                <a:solidFill>
                  <a:srgbClr val="002060"/>
                </a:solidFill>
                <a:latin typeface="Poppins" panose="00000500000000000000" pitchFamily="2" charset="0"/>
                <a:ea typeface="Lato"/>
                <a:cs typeface="Poppins" panose="00000500000000000000" pitchFamily="2" charset="0"/>
                <a:sym typeface="Lato"/>
              </a:rPr>
              <a:t>, go to extensions and download the following extensions</a:t>
            </a: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endParaRPr lang="en-US" sz="3400" b="1" dirty="0">
              <a:solidFill>
                <a:srgbClr val="002060"/>
              </a:solidFill>
              <a:latin typeface="Poppins" panose="00000500000000000000" pitchFamily="2" charset="0"/>
              <a:ea typeface="Lato"/>
              <a:cs typeface="Poppins" panose="00000500000000000000" pitchFamily="2" charset="0"/>
              <a:sym typeface="Lato"/>
            </a:endParaRPr>
          </a:p>
          <a:p>
            <a:pPr algn="just">
              <a:lnSpc>
                <a:spcPct val="150000"/>
              </a:lnSpc>
            </a:pPr>
            <a:r>
              <a:rPr lang="en-US" sz="3400" b="1" dirty="0">
                <a:solidFill>
                  <a:srgbClr val="002060"/>
                </a:solidFill>
                <a:latin typeface="Poppins" panose="00000500000000000000" pitchFamily="2" charset="0"/>
                <a:ea typeface="Lato"/>
                <a:cs typeface="Poppins" panose="00000500000000000000" pitchFamily="2" charset="0"/>
                <a:sym typeface="Lato"/>
              </a:rPr>
              <a:t>Step 2: </a:t>
            </a:r>
            <a:r>
              <a:rPr lang="en-US" sz="3400" dirty="0">
                <a:solidFill>
                  <a:srgbClr val="002060"/>
                </a:solidFill>
                <a:latin typeface="Poppins" panose="00000500000000000000" pitchFamily="2" charset="0"/>
                <a:ea typeface="Lato"/>
                <a:cs typeface="Poppins" panose="00000500000000000000" pitchFamily="2" charset="0"/>
                <a:sym typeface="Lato"/>
              </a:rPr>
              <a:t>Create python file then run the program to test.</a:t>
            </a:r>
          </a:p>
        </p:txBody>
      </p:sp>
      <p:sp>
        <p:nvSpPr>
          <p:cNvPr id="2" name="Slide Number Placeholder 5">
            <a:extLst>
              <a:ext uri="{FF2B5EF4-FFF2-40B4-BE49-F238E27FC236}">
                <a16:creationId xmlns:a16="http://schemas.microsoft.com/office/drawing/2014/main" id="{34D92663-CA7B-B2DD-EA7E-B00E2DBF3B90}"/>
              </a:ext>
            </a:extLst>
          </p:cNvPr>
          <p:cNvSpPr>
            <a:spLocks noGrp="1" noRot="1" noMove="1" noResize="1" noEditPoints="1" noAdjustHandles="1" noChangeArrowheads="1" noChangeShapeType="1"/>
          </p:cNvSpPr>
          <p:nvPr>
            <p:ph type="sldNum" sz="quarter" idx="4"/>
          </p:nvPr>
        </p:nvSpPr>
        <p:spPr>
          <a:xfrm>
            <a:off x="15163800" y="9925661"/>
            <a:ext cx="3124200" cy="357710"/>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Elective 4 (Special Topics on Web and Mobile 2)</a:t>
            </a:r>
          </a:p>
        </p:txBody>
      </p:sp>
      <p:pic>
        <p:nvPicPr>
          <p:cNvPr id="4" name="Picture 3">
            <a:extLst>
              <a:ext uri="{FF2B5EF4-FFF2-40B4-BE49-F238E27FC236}">
                <a16:creationId xmlns:a16="http://schemas.microsoft.com/office/drawing/2014/main" id="{35F73276-46DE-0970-DCED-9D878BF91368}"/>
              </a:ext>
            </a:extLst>
          </p:cNvPr>
          <p:cNvPicPr>
            <a:picLocks noChangeAspect="1"/>
          </p:cNvPicPr>
          <p:nvPr/>
        </p:nvPicPr>
        <p:blipFill>
          <a:blip r:embed="rId4"/>
          <a:stretch>
            <a:fillRect/>
          </a:stretch>
        </p:blipFill>
        <p:spPr>
          <a:xfrm>
            <a:off x="304800" y="2171700"/>
            <a:ext cx="15593692" cy="2415226"/>
          </a:xfrm>
          <a:prstGeom prst="rect">
            <a:avLst/>
          </a:prstGeom>
        </p:spPr>
      </p:pic>
      <p:pic>
        <p:nvPicPr>
          <p:cNvPr id="12" name="Picture 11">
            <a:extLst>
              <a:ext uri="{FF2B5EF4-FFF2-40B4-BE49-F238E27FC236}">
                <a16:creationId xmlns:a16="http://schemas.microsoft.com/office/drawing/2014/main" id="{ED68010B-85CF-6893-EE11-A80C11D694CC}"/>
              </a:ext>
            </a:extLst>
          </p:cNvPr>
          <p:cNvPicPr>
            <a:picLocks noChangeAspect="1"/>
          </p:cNvPicPr>
          <p:nvPr/>
        </p:nvPicPr>
        <p:blipFill>
          <a:blip r:embed="rId5"/>
          <a:stretch>
            <a:fillRect/>
          </a:stretch>
        </p:blipFill>
        <p:spPr>
          <a:xfrm>
            <a:off x="304800" y="4848365"/>
            <a:ext cx="15525282" cy="2383321"/>
          </a:xfrm>
          <a:prstGeom prst="rect">
            <a:avLst/>
          </a:prstGeom>
        </p:spPr>
      </p:pic>
    </p:spTree>
    <p:extLst>
      <p:ext uri="{BB962C8B-B14F-4D97-AF65-F5344CB8AC3E}">
        <p14:creationId xmlns:p14="http://schemas.microsoft.com/office/powerpoint/2010/main" val="2992592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505661D4E0C80409E0670B4A251F545" ma:contentTypeVersion="7" ma:contentTypeDescription="Create a new document." ma:contentTypeScope="" ma:versionID="724ba54ef5b52264e49916644082e7e0">
  <xsd:schema xmlns:xsd="http://www.w3.org/2001/XMLSchema" xmlns:xs="http://www.w3.org/2001/XMLSchema" xmlns:p="http://schemas.microsoft.com/office/2006/metadata/properties" xmlns:ns2="51223dca-c295-4754-958e-39a8bc32c9a8" targetNamespace="http://schemas.microsoft.com/office/2006/metadata/properties" ma:root="true" ma:fieldsID="1066a1b2f7b9c1c8290496c73b48af36" ns2:_="">
    <xsd:import namespace="51223dca-c295-4754-958e-39a8bc32c9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1223dca-c295-4754-958e-39a8bc32c9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5A50522-9B39-46E8-85C6-B531354BE7B3}">
  <ds:schemaRefs>
    <ds:schemaRef ds:uri="http://schemas.microsoft.com/sharepoint/v3/contenttype/forms"/>
  </ds:schemaRefs>
</ds:datastoreItem>
</file>

<file path=customXml/itemProps2.xml><?xml version="1.0" encoding="utf-8"?>
<ds:datastoreItem xmlns:ds="http://schemas.openxmlformats.org/officeDocument/2006/customXml" ds:itemID="{0223E445-6BAF-435F-98AA-FEAA2E0E07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1223dca-c295-4754-958e-39a8bc32c9a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0990173-19B8-4101-9FBD-AAEF1C764189}">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15235</TotalTime>
  <Words>2875</Words>
  <Application>Microsoft Office PowerPoint</Application>
  <PresentationFormat>Custom</PresentationFormat>
  <Paragraphs>311</Paragraphs>
  <Slides>25</Slides>
  <Notes>25</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 4 - Lesson 5</dc:title>
  <dc:creator>Mark Denver Adora</dc:creator>
  <cp:lastModifiedBy>Mark Denver Adora</cp:lastModifiedBy>
  <cp:revision>802</cp:revision>
  <dcterms:created xsi:type="dcterms:W3CDTF">2006-08-16T00:00:00Z</dcterms:created>
  <dcterms:modified xsi:type="dcterms:W3CDTF">2026-08-25T10:55:02Z</dcterms:modified>
  <dc:identifier>DAGH1tVytZk</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0x0101007505661D4E0C80409E0670B4A251F545</vt:lpwstr>
  </property>
</Properties>
</file>